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61" r:id="rId1"/>
  </p:sldMasterIdLst>
  <p:notesMasterIdLst>
    <p:notesMasterId r:id="rId20"/>
  </p:notesMasterIdLst>
  <p:sldIdLst>
    <p:sldId id="256" r:id="rId2"/>
    <p:sldId id="257" r:id="rId3"/>
    <p:sldId id="258" r:id="rId4"/>
    <p:sldId id="259" r:id="rId5"/>
    <p:sldId id="262" r:id="rId6"/>
    <p:sldId id="264" r:id="rId7"/>
    <p:sldId id="260" r:id="rId8"/>
    <p:sldId id="270" r:id="rId9"/>
    <p:sldId id="261" r:id="rId10"/>
    <p:sldId id="272" r:id="rId11"/>
    <p:sldId id="273" r:id="rId12"/>
    <p:sldId id="277" r:id="rId13"/>
    <p:sldId id="266" r:id="rId14"/>
    <p:sldId id="267" r:id="rId15"/>
    <p:sldId id="274" r:id="rId16"/>
    <p:sldId id="275" r:id="rId17"/>
    <p:sldId id="269" r:id="rId18"/>
    <p:sldId id="27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F5F"/>
    <a:srgbClr val="E7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32EFA2-45C5-4D2A-A09E-8992FCCC518E}" v="3" dt="2025-12-11T16:30:43.6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660"/>
  </p:normalViewPr>
  <p:slideViewPr>
    <p:cSldViewPr snapToGrid="0">
      <p:cViewPr varScale="1">
        <p:scale>
          <a:sx n="78" d="100"/>
          <a:sy n="78" d="100"/>
        </p:scale>
        <p:origin x="8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aba Khanum" userId="6859634471a889ad" providerId="LiveId" clId="{1CC3B68E-5605-4C40-91EA-00C7AB8A397C}"/>
    <pc:docChg chg="custSel addSld modSld">
      <pc:chgData name="Tayaba Khanum" userId="6859634471a889ad" providerId="LiveId" clId="{1CC3B68E-5605-4C40-91EA-00C7AB8A397C}" dt="2025-12-11T16:36:50" v="95" actId="2711"/>
      <pc:docMkLst>
        <pc:docMk/>
      </pc:docMkLst>
      <pc:sldChg chg="addSp delSp modSp add mod modClrScheme chgLayout">
        <pc:chgData name="Tayaba Khanum" userId="6859634471a889ad" providerId="LiveId" clId="{1CC3B68E-5605-4C40-91EA-00C7AB8A397C}" dt="2025-12-11T16:36:50" v="95" actId="2711"/>
        <pc:sldMkLst>
          <pc:docMk/>
          <pc:sldMk cId="497260832" sldId="277"/>
        </pc:sldMkLst>
        <pc:spChg chg="add mod ord">
          <ac:chgData name="Tayaba Khanum" userId="6859634471a889ad" providerId="LiveId" clId="{1CC3B68E-5605-4C40-91EA-00C7AB8A397C}" dt="2025-12-11T16:31:38.765" v="74" actId="207"/>
          <ac:spMkLst>
            <pc:docMk/>
            <pc:sldMk cId="497260832" sldId="277"/>
            <ac:spMk id="2" creationId="{B2CDB383-30D6-1C6A-6520-615415B07CF4}"/>
          </ac:spMkLst>
        </pc:spChg>
        <pc:spChg chg="mod">
          <ac:chgData name="Tayaba Khanum" userId="6859634471a889ad" providerId="LiveId" clId="{1CC3B68E-5605-4C40-91EA-00C7AB8A397C}" dt="2025-12-11T16:29:48.416" v="55" actId="1076"/>
          <ac:spMkLst>
            <pc:docMk/>
            <pc:sldMk cId="497260832" sldId="277"/>
            <ac:spMk id="3" creationId="{E564136E-0985-184D-33A9-9F566BB751C6}"/>
          </ac:spMkLst>
        </pc:spChg>
        <pc:spChg chg="add mod ord">
          <ac:chgData name="Tayaba Khanum" userId="6859634471a889ad" providerId="LiveId" clId="{1CC3B68E-5605-4C40-91EA-00C7AB8A397C}" dt="2025-12-11T16:36:50" v="95" actId="2711"/>
          <ac:spMkLst>
            <pc:docMk/>
            <pc:sldMk cId="497260832" sldId="277"/>
            <ac:spMk id="4" creationId="{21E51403-0608-007C-0343-1632EC0836D9}"/>
          </ac:spMkLst>
        </pc:spChg>
        <pc:picChg chg="del">
          <ac:chgData name="Tayaba Khanum" userId="6859634471a889ad" providerId="LiveId" clId="{1CC3B68E-5605-4C40-91EA-00C7AB8A397C}" dt="2025-12-11T16:28:31.402" v="1" actId="478"/>
          <ac:picMkLst>
            <pc:docMk/>
            <pc:sldMk cId="497260832" sldId="277"/>
            <ac:picMk id="5" creationId="{F0A002B5-00C0-8C22-430F-3DC3ED2773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169BC0-DB79-48EB-A6DB-9E4D46B64766}" type="datetimeFigureOut">
              <a:rPr lang="en-IN" smtClean="0"/>
              <a:t>11-12-2025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7C86B0-BE11-4FA6-B365-79E5E20B6AE6}" type="slidenum">
              <a:rPr lang="en-IN" smtClean="0"/>
              <a:t>‹#›</a:t>
            </a:fld>
            <a:endParaRPr lang="en-IN" dirty="0"/>
          </a:p>
        </p:txBody>
      </p:sp>
    </p:spTree>
    <p:extLst>
      <p:ext uri="{BB962C8B-B14F-4D97-AF65-F5344CB8AC3E}">
        <p14:creationId xmlns:p14="http://schemas.microsoft.com/office/powerpoint/2010/main" val="2636792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7C86B0-BE11-4FA6-B365-79E5E20B6AE6}" type="slidenum">
              <a:rPr lang="en-IN" smtClean="0"/>
              <a:t>17</a:t>
            </a:fld>
            <a:endParaRPr lang="en-IN" dirty="0"/>
          </a:p>
        </p:txBody>
      </p:sp>
    </p:spTree>
    <p:extLst>
      <p:ext uri="{BB962C8B-B14F-4D97-AF65-F5344CB8AC3E}">
        <p14:creationId xmlns:p14="http://schemas.microsoft.com/office/powerpoint/2010/main" val="34933357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AA546CC-D3C3-475D-B0B5-35107901381B}" type="datetimeFigureOut">
              <a:rPr lang="en-IN" smtClean="0"/>
              <a:t>11-12-2025</a:t>
            </a:fld>
            <a:endParaRPr lang="en-IN" dirty="0"/>
          </a:p>
        </p:txBody>
      </p:sp>
      <p:sp>
        <p:nvSpPr>
          <p:cNvPr id="5" name="Footer Placeholder 4"/>
          <p:cNvSpPr>
            <a:spLocks noGrp="1"/>
          </p:cNvSpPr>
          <p:nvPr>
            <p:ph type="ftr" sz="quarter" idx="11"/>
          </p:nvPr>
        </p:nvSpPr>
        <p:spPr>
          <a:xfrm>
            <a:off x="2692397" y="5037663"/>
            <a:ext cx="5214635" cy="279400"/>
          </a:xfrm>
        </p:spPr>
        <p:txBody>
          <a:bodyPr/>
          <a:lstStyle/>
          <a:p>
            <a:endParaRPr lang="en-IN" dirty="0"/>
          </a:p>
        </p:txBody>
      </p:sp>
      <p:sp>
        <p:nvSpPr>
          <p:cNvPr id="6" name="Slide Number Placeholder 5"/>
          <p:cNvSpPr>
            <a:spLocks noGrp="1"/>
          </p:cNvSpPr>
          <p:nvPr>
            <p:ph type="sldNum" sz="quarter" idx="12"/>
          </p:nvPr>
        </p:nvSpPr>
        <p:spPr>
          <a:xfrm>
            <a:off x="8956900" y="5037663"/>
            <a:ext cx="551167" cy="279400"/>
          </a:xfrm>
        </p:spPr>
        <p:txBody>
          <a:bodyPr/>
          <a:lstStyle/>
          <a:p>
            <a:fld id="{6B14D592-A0FC-43FB-A225-D62731B841F5}" type="slidenum">
              <a:rPr lang="en-IN" smtClean="0"/>
              <a:t>‹#›</a:t>
            </a:fld>
            <a:endParaRPr lang="en-IN"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6606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B14D592-A0FC-43FB-A225-D62731B841F5}" type="slidenum">
              <a:rPr lang="en-IN" smtClean="0"/>
              <a:t>‹#›</a:t>
            </a:fld>
            <a:endParaRPr lang="en-IN" dirty="0"/>
          </a:p>
        </p:txBody>
      </p:sp>
    </p:spTree>
    <p:extLst>
      <p:ext uri="{BB962C8B-B14F-4D97-AF65-F5344CB8AC3E}">
        <p14:creationId xmlns:p14="http://schemas.microsoft.com/office/powerpoint/2010/main" val="158273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B14D592-A0FC-43FB-A225-D62731B841F5}" type="slidenum">
              <a:rPr lang="en-IN" smtClean="0"/>
              <a:t>‹#›</a:t>
            </a:fld>
            <a:endParaRPr lang="en-IN"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380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B14D592-A0FC-43FB-A225-D62731B841F5}" type="slidenum">
              <a:rPr lang="en-IN" smtClean="0"/>
              <a:t>‹#›</a:t>
            </a:fld>
            <a:endParaRPr lang="en-IN" dirty="0"/>
          </a:p>
        </p:txBody>
      </p:sp>
    </p:spTree>
    <p:extLst>
      <p:ext uri="{BB962C8B-B14F-4D97-AF65-F5344CB8AC3E}">
        <p14:creationId xmlns:p14="http://schemas.microsoft.com/office/powerpoint/2010/main" val="2259901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6B14D592-A0FC-43FB-A225-D62731B841F5}" type="slidenum">
              <a:rPr lang="en-IN" smtClean="0"/>
              <a:t>‹#›</a:t>
            </a:fld>
            <a:endParaRPr lang="en-IN"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4091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6B14D592-A0FC-43FB-A225-D62731B841F5}" type="slidenum">
              <a:rPr lang="en-IN" smtClean="0"/>
              <a:t>‹#›</a:t>
            </a:fld>
            <a:endParaRPr lang="en-IN"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817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6B14D592-A0FC-43FB-A225-D62731B841F5}" type="slidenum">
              <a:rPr lang="en-IN" smtClean="0"/>
              <a:t>‹#›</a:t>
            </a:fld>
            <a:endParaRPr lang="en-IN" dirty="0"/>
          </a:p>
        </p:txBody>
      </p:sp>
    </p:spTree>
    <p:extLst>
      <p:ext uri="{BB962C8B-B14F-4D97-AF65-F5344CB8AC3E}">
        <p14:creationId xmlns:p14="http://schemas.microsoft.com/office/powerpoint/2010/main" val="48444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B14D592-A0FC-43FB-A225-D62731B841F5}" type="slidenum">
              <a:rPr lang="en-IN" smtClean="0"/>
              <a:t>‹#›</a:t>
            </a:fld>
            <a:endParaRPr lang="en-IN"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6051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B14D592-A0FC-43FB-A225-D62731B841F5}" type="slidenum">
              <a:rPr lang="en-IN" smtClean="0"/>
              <a:t>‹#›</a:t>
            </a:fld>
            <a:endParaRPr lang="en-IN" dirty="0"/>
          </a:p>
        </p:txBody>
      </p:sp>
    </p:spTree>
    <p:extLst>
      <p:ext uri="{BB962C8B-B14F-4D97-AF65-F5344CB8AC3E}">
        <p14:creationId xmlns:p14="http://schemas.microsoft.com/office/powerpoint/2010/main" val="3838504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B14D592-A0FC-43FB-A225-D62731B841F5}" type="slidenum">
              <a:rPr lang="en-IN" smtClean="0"/>
              <a:t>‹#›</a:t>
            </a:fld>
            <a:endParaRPr lang="en-IN" dirty="0"/>
          </a:p>
        </p:txBody>
      </p:sp>
    </p:spTree>
    <p:extLst>
      <p:ext uri="{BB962C8B-B14F-4D97-AF65-F5344CB8AC3E}">
        <p14:creationId xmlns:p14="http://schemas.microsoft.com/office/powerpoint/2010/main" val="3816599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B14D592-A0FC-43FB-A225-D62731B841F5}" type="slidenum">
              <a:rPr lang="en-IN" smtClean="0"/>
              <a:t>‹#›</a:t>
            </a:fld>
            <a:endParaRPr lang="en-IN"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7276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B14D592-A0FC-43FB-A225-D62731B841F5}" type="slidenum">
              <a:rPr lang="en-IN" smtClean="0"/>
              <a:t>‹#›</a:t>
            </a:fld>
            <a:endParaRPr lang="en-IN"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119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B14D592-A0FC-43FB-A225-D62731B841F5}" type="slidenum">
              <a:rPr lang="en-IN" smtClean="0"/>
              <a:t>‹#›</a:t>
            </a:fld>
            <a:endParaRPr lang="en-IN" dirty="0"/>
          </a:p>
        </p:txBody>
      </p:sp>
    </p:spTree>
    <p:extLst>
      <p:ext uri="{BB962C8B-B14F-4D97-AF65-F5344CB8AC3E}">
        <p14:creationId xmlns:p14="http://schemas.microsoft.com/office/powerpoint/2010/main" val="1297258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B14D592-A0FC-43FB-A225-D62731B841F5}" type="slidenum">
              <a:rPr lang="en-IN" smtClean="0"/>
              <a:t>‹#›</a:t>
            </a:fld>
            <a:endParaRPr lang="en-IN"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72219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B14D592-A0FC-43FB-A225-D62731B841F5}" type="slidenum">
              <a:rPr lang="en-IN" smtClean="0"/>
              <a:t>‹#›</a:t>
            </a:fld>
            <a:endParaRPr lang="en-IN"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28280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B14D592-A0FC-43FB-A225-D62731B841F5}" type="slidenum">
              <a:rPr lang="en-IN" smtClean="0"/>
              <a:t>‹#›</a:t>
            </a:fld>
            <a:endParaRPr lang="en-IN"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4952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A546CC-D3C3-475D-B0B5-35107901381B}" type="datetimeFigureOut">
              <a:rPr lang="en-IN" smtClean="0"/>
              <a:t>11-12-2025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B14D592-A0FC-43FB-A225-D62731B841F5}" type="slidenum">
              <a:rPr lang="en-IN" smtClean="0"/>
              <a:t>‹#›</a:t>
            </a:fld>
            <a:endParaRPr lang="en-IN"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3879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AA546CC-D3C3-475D-B0B5-35107901381B}" type="datetimeFigureOut">
              <a:rPr lang="en-IN" smtClean="0"/>
              <a:t>11-12-2025</a:t>
            </a:fld>
            <a:endParaRPr lang="en-IN"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B14D592-A0FC-43FB-A225-D62731B841F5}" type="slidenum">
              <a:rPr lang="en-IN" smtClean="0"/>
              <a:t>‹#›</a:t>
            </a:fld>
            <a:endParaRPr lang="en-IN" dirty="0"/>
          </a:p>
        </p:txBody>
      </p:sp>
    </p:spTree>
    <p:extLst>
      <p:ext uri="{BB962C8B-B14F-4D97-AF65-F5344CB8AC3E}">
        <p14:creationId xmlns:p14="http://schemas.microsoft.com/office/powerpoint/2010/main" val="2353165024"/>
      </p:ext>
    </p:extLst>
  </p:cSld>
  <p:clrMap bg1="lt1" tx1="dk1" bg2="lt2" tx2="dk2" accent1="accent1" accent2="accent2" accent3="accent3" accent4="accent4" accent5="accent5" accent6="accent6" hlink="hlink" folHlink="folHlink"/>
  <p:sldLayoutIdLst>
    <p:sldLayoutId id="2147484262" r:id="rId1"/>
    <p:sldLayoutId id="2147484263" r:id="rId2"/>
    <p:sldLayoutId id="2147484264" r:id="rId3"/>
    <p:sldLayoutId id="2147484265" r:id="rId4"/>
    <p:sldLayoutId id="2147484266" r:id="rId5"/>
    <p:sldLayoutId id="2147484267" r:id="rId6"/>
    <p:sldLayoutId id="2147484268" r:id="rId7"/>
    <p:sldLayoutId id="2147484269" r:id="rId8"/>
    <p:sldLayoutId id="2147484270" r:id="rId9"/>
    <p:sldLayoutId id="2147484271" r:id="rId10"/>
    <p:sldLayoutId id="2147484272" r:id="rId11"/>
    <p:sldLayoutId id="2147484273" r:id="rId12"/>
    <p:sldLayoutId id="2147484274" r:id="rId13"/>
    <p:sldLayoutId id="2147484275" r:id="rId14"/>
    <p:sldLayoutId id="2147484276" r:id="rId15"/>
    <p:sldLayoutId id="2147484277" r:id="rId16"/>
    <p:sldLayoutId id="2147484278"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76C02FAE-C730-FBC3-BE4F-D8F7B98BB982}"/>
              </a:ext>
            </a:extLst>
          </p:cNvPr>
          <p:cNvSpPr txBox="1">
            <a:spLocks/>
          </p:cNvSpPr>
          <p:nvPr/>
        </p:nvSpPr>
        <p:spPr>
          <a:xfrm>
            <a:off x="0" y="308206"/>
            <a:ext cx="12191999" cy="562845"/>
          </a:xfrm>
          <a:prstGeom prst="rect">
            <a:avLst/>
          </a:prstGeom>
        </p:spPr>
        <p:txBody>
          <a:bodyPr vert="horz" wrap="square" lIns="0" tIns="13335" rIns="0" bIns="0" rtlCol="0">
            <a:sp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pPr marL="12700">
              <a:lnSpc>
                <a:spcPct val="100000"/>
              </a:lnSpc>
              <a:spcBef>
                <a:spcPts val="105"/>
              </a:spcBef>
            </a:pPr>
            <a:r>
              <a:rPr lang="en-US" spc="45" dirty="0">
                <a:solidFill>
                  <a:srgbClr val="DE7D17"/>
                </a:solidFill>
              </a:rPr>
              <a:t>EAST</a:t>
            </a:r>
            <a:r>
              <a:rPr lang="en-US" spc="-130" dirty="0">
                <a:solidFill>
                  <a:srgbClr val="DE7D17"/>
                </a:solidFill>
              </a:rPr>
              <a:t> </a:t>
            </a:r>
            <a:r>
              <a:rPr lang="en-US" spc="20" dirty="0">
                <a:solidFill>
                  <a:srgbClr val="DE7D17"/>
                </a:solidFill>
              </a:rPr>
              <a:t>WEST</a:t>
            </a:r>
            <a:r>
              <a:rPr lang="en-US" spc="-5" dirty="0">
                <a:solidFill>
                  <a:srgbClr val="DE7D17"/>
                </a:solidFill>
              </a:rPr>
              <a:t> </a:t>
            </a:r>
            <a:r>
              <a:rPr lang="en-US" spc="65" dirty="0">
                <a:solidFill>
                  <a:srgbClr val="DE7D17"/>
                </a:solidFill>
              </a:rPr>
              <a:t>INSTITUTE </a:t>
            </a:r>
            <a:r>
              <a:rPr lang="en-US" spc="60" dirty="0">
                <a:solidFill>
                  <a:srgbClr val="DE7D17"/>
                </a:solidFill>
              </a:rPr>
              <a:t>OF</a:t>
            </a:r>
            <a:r>
              <a:rPr lang="en-US" spc="-140" dirty="0">
                <a:solidFill>
                  <a:srgbClr val="DE7D17"/>
                </a:solidFill>
              </a:rPr>
              <a:t> </a:t>
            </a:r>
            <a:r>
              <a:rPr lang="en-US" spc="70" dirty="0">
                <a:solidFill>
                  <a:srgbClr val="DE7D17"/>
                </a:solidFill>
              </a:rPr>
              <a:t>TECHNOLOGY</a:t>
            </a:r>
            <a:endParaRPr lang="en-US" dirty="0"/>
          </a:p>
        </p:txBody>
      </p:sp>
      <p:pic>
        <p:nvPicPr>
          <p:cNvPr id="6" name="object 4">
            <a:extLst>
              <a:ext uri="{FF2B5EF4-FFF2-40B4-BE49-F238E27FC236}">
                <a16:creationId xmlns:a16="http://schemas.microsoft.com/office/drawing/2014/main" id="{37CB2910-EDB8-60BC-3CF9-82B438109F3C}"/>
              </a:ext>
            </a:extLst>
          </p:cNvPr>
          <p:cNvPicPr/>
          <p:nvPr/>
        </p:nvPicPr>
        <p:blipFill>
          <a:blip r:embed="rId2" cstate="print"/>
          <a:stretch>
            <a:fillRect/>
          </a:stretch>
        </p:blipFill>
        <p:spPr>
          <a:xfrm>
            <a:off x="1" y="40933"/>
            <a:ext cx="1510588" cy="1319237"/>
          </a:xfrm>
          <a:prstGeom prst="rect">
            <a:avLst/>
          </a:prstGeom>
        </p:spPr>
      </p:pic>
      <p:sp>
        <p:nvSpPr>
          <p:cNvPr id="7" name="object 5">
            <a:extLst>
              <a:ext uri="{FF2B5EF4-FFF2-40B4-BE49-F238E27FC236}">
                <a16:creationId xmlns:a16="http://schemas.microsoft.com/office/drawing/2014/main" id="{ED615D5D-312B-CEE5-6B51-DC6476B2D72E}"/>
              </a:ext>
            </a:extLst>
          </p:cNvPr>
          <p:cNvSpPr txBox="1"/>
          <p:nvPr/>
        </p:nvSpPr>
        <p:spPr>
          <a:xfrm>
            <a:off x="9624060" y="5275516"/>
            <a:ext cx="4309109" cy="1451679"/>
          </a:xfrm>
          <a:prstGeom prst="rect">
            <a:avLst/>
          </a:prstGeom>
        </p:spPr>
        <p:txBody>
          <a:bodyPr vert="horz" wrap="square" lIns="0" tIns="12065" rIns="0" bIns="0" rtlCol="0">
            <a:spAutoFit/>
          </a:bodyPr>
          <a:lstStyle/>
          <a:p>
            <a:pPr marL="12700" marR="926465">
              <a:lnSpc>
                <a:spcPct val="138700"/>
              </a:lnSpc>
              <a:spcBef>
                <a:spcPts val="95"/>
              </a:spcBef>
            </a:pPr>
            <a:r>
              <a:rPr b="1" spc="25" dirty="0">
                <a:solidFill>
                  <a:srgbClr val="001F5F"/>
                </a:solidFill>
                <a:latin typeface="Times New Roman"/>
                <a:cs typeface="Times New Roman"/>
              </a:rPr>
              <a:t>Under</a:t>
            </a:r>
            <a:r>
              <a:rPr b="1" spc="-50" dirty="0">
                <a:solidFill>
                  <a:srgbClr val="001F5F"/>
                </a:solidFill>
                <a:latin typeface="Times New Roman"/>
                <a:cs typeface="Times New Roman"/>
              </a:rPr>
              <a:t> </a:t>
            </a:r>
            <a:r>
              <a:rPr b="1" spc="25" dirty="0">
                <a:solidFill>
                  <a:srgbClr val="001F5F"/>
                </a:solidFill>
                <a:latin typeface="Times New Roman"/>
                <a:cs typeface="Times New Roman"/>
              </a:rPr>
              <a:t>the</a:t>
            </a:r>
            <a:r>
              <a:rPr lang="en-US" b="1" spc="25" dirty="0">
                <a:solidFill>
                  <a:srgbClr val="001F5F"/>
                </a:solidFill>
                <a:latin typeface="Times New Roman"/>
                <a:cs typeface="Times New Roman"/>
              </a:rPr>
              <a:t> </a:t>
            </a:r>
            <a:r>
              <a:rPr b="1" spc="25" dirty="0" err="1">
                <a:solidFill>
                  <a:srgbClr val="001F5F"/>
                </a:solidFill>
                <a:latin typeface="Times New Roman"/>
                <a:cs typeface="Times New Roman"/>
              </a:rPr>
              <a:t>G</a:t>
            </a:r>
            <a:r>
              <a:rPr lang="en-US" b="1" spc="25" dirty="0" err="1">
                <a:solidFill>
                  <a:srgbClr val="001F5F"/>
                </a:solidFill>
                <a:latin typeface="Times New Roman"/>
                <a:cs typeface="Times New Roman"/>
              </a:rPr>
              <a:t>u</a:t>
            </a:r>
            <a:r>
              <a:rPr b="1" spc="25" dirty="0" err="1">
                <a:solidFill>
                  <a:srgbClr val="001F5F"/>
                </a:solidFill>
                <a:latin typeface="Times New Roman"/>
                <a:cs typeface="Times New Roman"/>
              </a:rPr>
              <a:t>idence</a:t>
            </a:r>
            <a:r>
              <a:rPr lang="en-US" b="1" spc="25" dirty="0">
                <a:solidFill>
                  <a:srgbClr val="001F5F"/>
                </a:solidFill>
                <a:latin typeface="Times New Roman"/>
                <a:cs typeface="Times New Roman"/>
              </a:rPr>
              <a:t> of</a:t>
            </a:r>
            <a:r>
              <a:rPr b="1" spc="-15" dirty="0">
                <a:solidFill>
                  <a:srgbClr val="001F5F"/>
                </a:solidFill>
                <a:latin typeface="Times New Roman"/>
                <a:cs typeface="Times New Roman"/>
              </a:rPr>
              <a:t> </a:t>
            </a:r>
            <a:r>
              <a:rPr lang="en-US" b="1" spc="-15" dirty="0">
                <a:solidFill>
                  <a:srgbClr val="001F5F"/>
                </a:solidFill>
                <a:latin typeface="Times New Roman"/>
                <a:cs typeface="Times New Roman"/>
              </a:rPr>
              <a:t> </a:t>
            </a:r>
            <a:r>
              <a:rPr spc="5" dirty="0">
                <a:solidFill>
                  <a:srgbClr val="001F5F"/>
                </a:solidFill>
                <a:latin typeface="Times New Roman"/>
                <a:cs typeface="Times New Roman"/>
              </a:rPr>
              <a:t>:</a:t>
            </a:r>
            <a:endParaRPr lang="en-US" spc="5" dirty="0">
              <a:solidFill>
                <a:srgbClr val="001F5F"/>
              </a:solidFill>
              <a:latin typeface="Times New Roman"/>
              <a:cs typeface="Times New Roman"/>
            </a:endParaRPr>
          </a:p>
          <a:p>
            <a:pPr marL="12700" marR="926465">
              <a:lnSpc>
                <a:spcPct val="138700"/>
              </a:lnSpc>
              <a:spcBef>
                <a:spcPts val="95"/>
              </a:spcBef>
            </a:pPr>
            <a:r>
              <a:rPr spc="-450" dirty="0">
                <a:solidFill>
                  <a:srgbClr val="001F5F"/>
                </a:solidFill>
                <a:latin typeface="Times New Roman"/>
                <a:cs typeface="Times New Roman"/>
              </a:rPr>
              <a:t> </a:t>
            </a:r>
            <a:r>
              <a:rPr lang="en-US" spc="20" dirty="0">
                <a:solidFill>
                  <a:srgbClr val="001F5F"/>
                </a:solidFill>
                <a:latin typeface="Times New Roman"/>
                <a:cs typeface="Times New Roman"/>
              </a:rPr>
              <a:t>Mrs.Shilpa.V</a:t>
            </a:r>
            <a:endParaRPr lang="en-US" spc="15" dirty="0">
              <a:latin typeface="Times New Roman"/>
              <a:cs typeface="Times New Roman"/>
            </a:endParaRPr>
          </a:p>
          <a:p>
            <a:pPr marL="12700">
              <a:lnSpc>
                <a:spcPct val="100000"/>
              </a:lnSpc>
              <a:spcBef>
                <a:spcPts val="405"/>
              </a:spcBef>
            </a:pPr>
            <a:r>
              <a:rPr spc="15" dirty="0">
                <a:latin typeface="Times New Roman"/>
                <a:cs typeface="Times New Roman"/>
              </a:rPr>
              <a:t>Assistant</a:t>
            </a:r>
            <a:r>
              <a:rPr spc="-10" dirty="0">
                <a:latin typeface="Times New Roman"/>
                <a:cs typeface="Times New Roman"/>
              </a:rPr>
              <a:t> </a:t>
            </a:r>
            <a:r>
              <a:rPr spc="20" dirty="0">
                <a:latin typeface="Times New Roman"/>
                <a:cs typeface="Times New Roman"/>
              </a:rPr>
              <a:t>Prof</a:t>
            </a:r>
            <a:r>
              <a:rPr lang="en-US" spc="20" dirty="0">
                <a:latin typeface="Times New Roman"/>
                <a:cs typeface="Times New Roman"/>
              </a:rPr>
              <a:t>essor</a:t>
            </a:r>
          </a:p>
          <a:p>
            <a:pPr marL="12700">
              <a:lnSpc>
                <a:spcPct val="100000"/>
              </a:lnSpc>
              <a:spcBef>
                <a:spcPts val="405"/>
              </a:spcBef>
            </a:pPr>
            <a:r>
              <a:rPr spc="15" dirty="0" err="1">
                <a:latin typeface="Times New Roman"/>
                <a:cs typeface="Times New Roman"/>
              </a:rPr>
              <a:t>Dept.ECE</a:t>
            </a:r>
            <a:r>
              <a:rPr spc="15" dirty="0">
                <a:latin typeface="Times New Roman"/>
                <a:cs typeface="Times New Roman"/>
              </a:rPr>
              <a:t>,</a:t>
            </a:r>
            <a:r>
              <a:rPr lang="en-US" spc="15" dirty="0">
                <a:latin typeface="Times New Roman"/>
                <a:cs typeface="Times New Roman"/>
              </a:rPr>
              <a:t> </a:t>
            </a:r>
            <a:r>
              <a:rPr spc="15" dirty="0">
                <a:latin typeface="Times New Roman"/>
                <a:cs typeface="Times New Roman"/>
              </a:rPr>
              <a:t>EWIT</a:t>
            </a:r>
            <a:endParaRPr lang="en-US" spc="15" dirty="0">
              <a:latin typeface="Times New Roman"/>
              <a:cs typeface="Times New Roman"/>
            </a:endParaRPr>
          </a:p>
        </p:txBody>
      </p:sp>
      <p:sp>
        <p:nvSpPr>
          <p:cNvPr id="8" name="object 6">
            <a:extLst>
              <a:ext uri="{FF2B5EF4-FFF2-40B4-BE49-F238E27FC236}">
                <a16:creationId xmlns:a16="http://schemas.microsoft.com/office/drawing/2014/main" id="{669B6FF1-68D0-DBF4-D636-BF100CADF8B8}"/>
              </a:ext>
            </a:extLst>
          </p:cNvPr>
          <p:cNvSpPr txBox="1"/>
          <p:nvPr/>
        </p:nvSpPr>
        <p:spPr>
          <a:xfrm>
            <a:off x="255247" y="4848628"/>
            <a:ext cx="2043836" cy="2036455"/>
          </a:xfrm>
          <a:prstGeom prst="rect">
            <a:avLst/>
          </a:prstGeom>
        </p:spPr>
        <p:txBody>
          <a:bodyPr vert="horz" wrap="square" lIns="0" tIns="12700" rIns="0" bIns="0" rtlCol="0">
            <a:spAutoFit/>
          </a:bodyPr>
          <a:lstStyle/>
          <a:p>
            <a:pPr marL="12065">
              <a:lnSpc>
                <a:spcPct val="100000"/>
              </a:lnSpc>
              <a:spcBef>
                <a:spcPts val="100"/>
              </a:spcBef>
              <a:tabLst>
                <a:tab pos="298450" algn="l"/>
                <a:tab pos="299085" algn="l"/>
              </a:tabLst>
            </a:pPr>
            <a:r>
              <a:rPr lang="en-IN" sz="1850" b="1" spc="-10" dirty="0">
                <a:solidFill>
                  <a:srgbClr val="001F5F"/>
                </a:solidFill>
                <a:latin typeface="Times New Roman"/>
                <a:cs typeface="Times New Roman"/>
              </a:rPr>
              <a:t>Presented</a:t>
            </a:r>
            <a:r>
              <a:rPr lang="en-IN" sz="1850" b="1" spc="-25" dirty="0">
                <a:solidFill>
                  <a:srgbClr val="001F5F"/>
                </a:solidFill>
                <a:latin typeface="Times New Roman"/>
                <a:cs typeface="Times New Roman"/>
              </a:rPr>
              <a:t> </a:t>
            </a:r>
            <a:r>
              <a:rPr lang="en-IN" sz="1850" b="1" dirty="0">
                <a:solidFill>
                  <a:srgbClr val="001F5F"/>
                </a:solidFill>
                <a:latin typeface="Times New Roman"/>
                <a:cs typeface="Times New Roman"/>
              </a:rPr>
              <a:t>by: </a:t>
            </a:r>
            <a:endParaRPr lang="en-IN" spc="-10" dirty="0">
              <a:solidFill>
                <a:srgbClr val="001F5F"/>
              </a:solidFill>
              <a:latin typeface="Times New Roman"/>
              <a:cs typeface="Times New Roman"/>
            </a:endParaRPr>
          </a:p>
          <a:p>
            <a:pPr marL="298450" indent="-286385">
              <a:lnSpc>
                <a:spcPct val="100000"/>
              </a:lnSpc>
              <a:spcBef>
                <a:spcPts val="100"/>
              </a:spcBef>
              <a:buFont typeface="Arial MT"/>
              <a:buChar char="•"/>
              <a:tabLst>
                <a:tab pos="298450" algn="l"/>
                <a:tab pos="299085" algn="l"/>
              </a:tabLst>
            </a:pPr>
            <a:r>
              <a:rPr lang="en-US" spc="-10" dirty="0">
                <a:latin typeface="Times New Roman"/>
                <a:cs typeface="Times New Roman"/>
              </a:rPr>
              <a:t>Rakshitha Jain S</a:t>
            </a:r>
            <a:endParaRPr lang="en-US" sz="1800" spc="-10" dirty="0">
              <a:latin typeface="Times New Roman"/>
              <a:cs typeface="Times New Roman"/>
            </a:endParaRPr>
          </a:p>
          <a:p>
            <a:pPr marL="298450" indent="-286385">
              <a:spcBef>
                <a:spcPts val="100"/>
              </a:spcBef>
              <a:buFont typeface="Arial MT"/>
              <a:buChar char="•"/>
              <a:tabLst>
                <a:tab pos="298450" algn="l"/>
                <a:tab pos="299085" algn="l"/>
              </a:tabLst>
            </a:pPr>
            <a:r>
              <a:rPr lang="en-US" sz="1800" spc="-10" dirty="0">
                <a:latin typeface="Times New Roman"/>
                <a:cs typeface="Times New Roman"/>
              </a:rPr>
              <a:t>Ruquiya Khanum</a:t>
            </a:r>
          </a:p>
          <a:p>
            <a:pPr marL="298450" indent="-286385">
              <a:spcBef>
                <a:spcPts val="100"/>
              </a:spcBef>
              <a:buFont typeface="Arial MT"/>
              <a:buChar char="•"/>
              <a:tabLst>
                <a:tab pos="298450" algn="l"/>
                <a:tab pos="299085" algn="l"/>
              </a:tabLst>
            </a:pPr>
            <a:r>
              <a:rPr lang="en-US" spc="-10" dirty="0">
                <a:latin typeface="Times New Roman"/>
                <a:cs typeface="Times New Roman"/>
              </a:rPr>
              <a:t>Sneha Chauhan</a:t>
            </a:r>
          </a:p>
          <a:p>
            <a:pPr marL="298450" indent="-286385">
              <a:spcBef>
                <a:spcPts val="100"/>
              </a:spcBef>
              <a:buFont typeface="Arial MT"/>
              <a:buChar char="•"/>
              <a:tabLst>
                <a:tab pos="298450" algn="l"/>
                <a:tab pos="299085" algn="l"/>
              </a:tabLst>
            </a:pPr>
            <a:r>
              <a:rPr lang="en-US" sz="1800" spc="-10" dirty="0">
                <a:latin typeface="Times New Roman"/>
                <a:cs typeface="Times New Roman"/>
              </a:rPr>
              <a:t>Varsha</a:t>
            </a:r>
            <a:r>
              <a:rPr lang="en-US" spc="-10" dirty="0">
                <a:latin typeface="Times New Roman"/>
                <a:cs typeface="Times New Roman"/>
              </a:rPr>
              <a:t> B Gotur</a:t>
            </a:r>
            <a:endParaRPr lang="en-US" sz="1800" dirty="0">
              <a:latin typeface="Times New Roman"/>
              <a:cs typeface="Times New Roman"/>
            </a:endParaRPr>
          </a:p>
          <a:p>
            <a:pPr marL="298450" indent="-286385">
              <a:lnSpc>
                <a:spcPct val="100000"/>
              </a:lnSpc>
              <a:spcBef>
                <a:spcPts val="100"/>
              </a:spcBef>
              <a:buFont typeface="Arial MT"/>
              <a:buChar char="•"/>
              <a:tabLst>
                <a:tab pos="298450" algn="l"/>
                <a:tab pos="299085" algn="l"/>
              </a:tabLst>
            </a:pPr>
            <a:endParaRPr lang="en-US" sz="1800" spc="-10" dirty="0">
              <a:latin typeface="Times New Roman"/>
              <a:cs typeface="Times New Roman"/>
            </a:endParaRPr>
          </a:p>
          <a:p>
            <a:pPr marL="298450" indent="-286385">
              <a:lnSpc>
                <a:spcPct val="100000"/>
              </a:lnSpc>
              <a:spcBef>
                <a:spcPts val="100"/>
              </a:spcBef>
              <a:buFont typeface="Arial MT"/>
              <a:buChar char="•"/>
              <a:tabLst>
                <a:tab pos="298450" algn="l"/>
                <a:tab pos="299085" algn="l"/>
              </a:tabLst>
            </a:pPr>
            <a:endParaRPr lang="en-US" sz="1800" spc="-10" dirty="0">
              <a:latin typeface="Times New Roman"/>
              <a:cs typeface="Times New Roman"/>
            </a:endParaRPr>
          </a:p>
        </p:txBody>
      </p:sp>
      <p:sp>
        <p:nvSpPr>
          <p:cNvPr id="9" name="object 7">
            <a:extLst>
              <a:ext uri="{FF2B5EF4-FFF2-40B4-BE49-F238E27FC236}">
                <a16:creationId xmlns:a16="http://schemas.microsoft.com/office/drawing/2014/main" id="{71EDFAF3-9370-0B8E-B6DD-C7798D9DE635}"/>
              </a:ext>
            </a:extLst>
          </p:cNvPr>
          <p:cNvSpPr txBox="1"/>
          <p:nvPr/>
        </p:nvSpPr>
        <p:spPr>
          <a:xfrm>
            <a:off x="2436724" y="5200006"/>
            <a:ext cx="2043836" cy="1105431"/>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r>
              <a:rPr sz="1800" spc="-65" dirty="0">
                <a:latin typeface="Times New Roman"/>
                <a:cs typeface="Times New Roman"/>
              </a:rPr>
              <a:t> </a:t>
            </a:r>
            <a:r>
              <a:rPr sz="1800" spc="-5" dirty="0">
                <a:latin typeface="Times New Roman"/>
                <a:cs typeface="Times New Roman"/>
              </a:rPr>
              <a:t>(1EW2</a:t>
            </a:r>
            <a:r>
              <a:rPr lang="en-US" spc="-5" dirty="0">
                <a:latin typeface="Times New Roman"/>
                <a:cs typeface="Times New Roman"/>
              </a:rPr>
              <a:t>2EC125</a:t>
            </a:r>
            <a:r>
              <a:rPr sz="1800" spc="-5" dirty="0">
                <a:latin typeface="Times New Roman"/>
                <a:cs typeface="Times New Roman"/>
              </a:rPr>
              <a:t>)</a:t>
            </a:r>
            <a:endParaRPr sz="1800" dirty="0">
              <a:latin typeface="Times New Roman"/>
              <a:cs typeface="Times New Roman"/>
            </a:endParaRPr>
          </a:p>
          <a:p>
            <a:pPr marL="38100">
              <a:lnSpc>
                <a:spcPct val="100000"/>
              </a:lnSpc>
              <a:spcBef>
                <a:spcPts val="20"/>
              </a:spcBef>
            </a:pPr>
            <a:r>
              <a:rPr sz="1800" dirty="0">
                <a:latin typeface="Times New Roman"/>
                <a:cs typeface="Times New Roman"/>
              </a:rPr>
              <a:t>-</a:t>
            </a:r>
            <a:r>
              <a:rPr sz="1800" spc="-65" dirty="0">
                <a:latin typeface="Times New Roman"/>
                <a:cs typeface="Times New Roman"/>
              </a:rPr>
              <a:t> </a:t>
            </a:r>
            <a:r>
              <a:rPr sz="1800" spc="-5" dirty="0">
                <a:latin typeface="Times New Roman"/>
                <a:cs typeface="Times New Roman"/>
              </a:rPr>
              <a:t>(1EW2</a:t>
            </a:r>
            <a:r>
              <a:rPr lang="en-US" spc="-5" dirty="0">
                <a:latin typeface="Times New Roman"/>
                <a:cs typeface="Times New Roman"/>
              </a:rPr>
              <a:t>2</a:t>
            </a:r>
            <a:r>
              <a:rPr lang="en-US" sz="1800" spc="-5" dirty="0">
                <a:latin typeface="Times New Roman"/>
                <a:cs typeface="Times New Roman"/>
              </a:rPr>
              <a:t>EC130</a:t>
            </a:r>
            <a:r>
              <a:rPr sz="1800" spc="-5" dirty="0">
                <a:latin typeface="Times New Roman"/>
                <a:cs typeface="Times New Roman"/>
              </a:rPr>
              <a:t>)</a:t>
            </a:r>
            <a:endParaRPr sz="1800" dirty="0">
              <a:latin typeface="Times New Roman"/>
              <a:cs typeface="Times New Roman"/>
            </a:endParaRPr>
          </a:p>
          <a:p>
            <a:pPr marL="12700">
              <a:lnSpc>
                <a:spcPts val="2130"/>
              </a:lnSpc>
              <a:spcBef>
                <a:spcPts val="20"/>
              </a:spcBef>
            </a:pPr>
            <a:r>
              <a:rPr sz="1800" dirty="0">
                <a:latin typeface="Times New Roman"/>
                <a:cs typeface="Times New Roman"/>
              </a:rPr>
              <a:t>-</a:t>
            </a:r>
            <a:r>
              <a:rPr sz="1800" spc="-65" dirty="0">
                <a:latin typeface="Times New Roman"/>
                <a:cs typeface="Times New Roman"/>
              </a:rPr>
              <a:t> </a:t>
            </a:r>
            <a:r>
              <a:rPr sz="1800" spc="-5" dirty="0">
                <a:latin typeface="Times New Roman"/>
                <a:cs typeface="Times New Roman"/>
              </a:rPr>
              <a:t>(1EW22EC</a:t>
            </a:r>
            <a:r>
              <a:rPr lang="en-US" sz="1800" spc="-5" dirty="0">
                <a:latin typeface="Times New Roman"/>
                <a:cs typeface="Times New Roman"/>
              </a:rPr>
              <a:t>155</a:t>
            </a:r>
            <a:r>
              <a:rPr sz="1800" spc="-5" dirty="0">
                <a:latin typeface="Times New Roman"/>
                <a:cs typeface="Times New Roman"/>
              </a:rPr>
              <a:t>)</a:t>
            </a:r>
            <a:endParaRPr sz="1800" dirty="0">
              <a:latin typeface="Times New Roman"/>
              <a:cs typeface="Times New Roman"/>
            </a:endParaRPr>
          </a:p>
          <a:p>
            <a:pPr marL="41910">
              <a:lnSpc>
                <a:spcPts val="2130"/>
              </a:lnSpc>
            </a:pPr>
            <a:r>
              <a:rPr sz="1800" dirty="0">
                <a:latin typeface="Times New Roman"/>
                <a:cs typeface="Times New Roman"/>
              </a:rPr>
              <a:t>-</a:t>
            </a:r>
            <a:r>
              <a:rPr sz="1800" spc="-55" dirty="0">
                <a:latin typeface="Times New Roman"/>
                <a:cs typeface="Times New Roman"/>
              </a:rPr>
              <a:t> </a:t>
            </a:r>
            <a:r>
              <a:rPr sz="1800" spc="-5" dirty="0">
                <a:latin typeface="Times New Roman"/>
                <a:cs typeface="Times New Roman"/>
              </a:rPr>
              <a:t>(1EW2</a:t>
            </a:r>
            <a:r>
              <a:rPr lang="en-IN" sz="1800" spc="-5" dirty="0">
                <a:latin typeface="Times New Roman"/>
                <a:cs typeface="Times New Roman"/>
              </a:rPr>
              <a:t>3</a:t>
            </a:r>
            <a:r>
              <a:rPr sz="1800" spc="-5" dirty="0">
                <a:latin typeface="Times New Roman"/>
                <a:cs typeface="Times New Roman"/>
              </a:rPr>
              <a:t>E</a:t>
            </a:r>
            <a:r>
              <a:rPr lang="en-US" sz="1800" spc="-5" dirty="0">
                <a:latin typeface="Times New Roman"/>
                <a:cs typeface="Times New Roman"/>
              </a:rPr>
              <a:t>C172</a:t>
            </a:r>
            <a:r>
              <a:rPr sz="1800" spc="-5" dirty="0">
                <a:latin typeface="Times New Roman"/>
                <a:cs typeface="Times New Roman"/>
              </a:rPr>
              <a:t>)</a:t>
            </a:r>
            <a:endParaRPr sz="1800" dirty="0">
              <a:latin typeface="Times New Roman"/>
              <a:cs typeface="Times New Roman"/>
            </a:endParaRPr>
          </a:p>
        </p:txBody>
      </p:sp>
      <p:sp>
        <p:nvSpPr>
          <p:cNvPr id="10" name="object 8">
            <a:extLst>
              <a:ext uri="{FF2B5EF4-FFF2-40B4-BE49-F238E27FC236}">
                <a16:creationId xmlns:a16="http://schemas.microsoft.com/office/drawing/2014/main" id="{85EBFAB5-C057-F292-FDC5-71C5824A8647}"/>
              </a:ext>
            </a:extLst>
          </p:cNvPr>
          <p:cNvSpPr txBox="1"/>
          <p:nvPr/>
        </p:nvSpPr>
        <p:spPr>
          <a:xfrm>
            <a:off x="-774742" y="700551"/>
            <a:ext cx="11507512" cy="4174220"/>
          </a:xfrm>
          <a:prstGeom prst="rect">
            <a:avLst/>
          </a:prstGeom>
        </p:spPr>
        <p:txBody>
          <a:bodyPr vert="horz" wrap="square" lIns="0" tIns="148590" rIns="0" bIns="0" rtlCol="0">
            <a:spAutoFit/>
          </a:bodyPr>
          <a:lstStyle/>
          <a:p>
            <a:pPr marL="2176145" algn="ctr">
              <a:lnSpc>
                <a:spcPct val="100000"/>
              </a:lnSpc>
              <a:spcBef>
                <a:spcPts val="1170"/>
              </a:spcBef>
            </a:pPr>
            <a:r>
              <a:rPr sz="1800" spc="75" dirty="0">
                <a:latin typeface="Times New Roman"/>
                <a:cs typeface="Times New Roman"/>
              </a:rPr>
              <a:t>(Affiliated</a:t>
            </a:r>
            <a:r>
              <a:rPr sz="1800" spc="145" dirty="0">
                <a:latin typeface="Times New Roman"/>
                <a:cs typeface="Times New Roman"/>
              </a:rPr>
              <a:t> </a:t>
            </a:r>
            <a:r>
              <a:rPr sz="1800" spc="45" dirty="0">
                <a:latin typeface="Times New Roman"/>
                <a:cs typeface="Times New Roman"/>
              </a:rPr>
              <a:t>to</a:t>
            </a:r>
            <a:r>
              <a:rPr sz="1800" spc="150" dirty="0">
                <a:latin typeface="Times New Roman"/>
                <a:cs typeface="Times New Roman"/>
              </a:rPr>
              <a:t> </a:t>
            </a:r>
            <a:r>
              <a:rPr sz="1800" spc="70" dirty="0">
                <a:latin typeface="Times New Roman"/>
                <a:cs typeface="Times New Roman"/>
              </a:rPr>
              <a:t>Visvesvaraya</a:t>
            </a:r>
            <a:r>
              <a:rPr sz="1800" spc="105" dirty="0">
                <a:latin typeface="Times New Roman"/>
                <a:cs typeface="Times New Roman"/>
              </a:rPr>
              <a:t> </a:t>
            </a:r>
            <a:r>
              <a:rPr sz="1800" spc="70" dirty="0">
                <a:latin typeface="Times New Roman"/>
                <a:cs typeface="Times New Roman"/>
              </a:rPr>
              <a:t>Technological</a:t>
            </a:r>
            <a:r>
              <a:rPr sz="1800" spc="180" dirty="0">
                <a:latin typeface="Times New Roman"/>
                <a:cs typeface="Times New Roman"/>
              </a:rPr>
              <a:t> </a:t>
            </a:r>
            <a:r>
              <a:rPr sz="1800" spc="75" dirty="0">
                <a:latin typeface="Times New Roman"/>
                <a:cs typeface="Times New Roman"/>
              </a:rPr>
              <a:t>University</a:t>
            </a:r>
            <a:r>
              <a:rPr sz="1800" spc="150" dirty="0">
                <a:latin typeface="Times New Roman"/>
                <a:cs typeface="Times New Roman"/>
              </a:rPr>
              <a:t> </a:t>
            </a:r>
            <a:r>
              <a:rPr sz="1800" spc="70" dirty="0">
                <a:latin typeface="Times New Roman"/>
                <a:cs typeface="Times New Roman"/>
              </a:rPr>
              <a:t>Belgavi)</a:t>
            </a:r>
            <a:endParaRPr sz="1800" dirty="0">
              <a:latin typeface="Times New Roman"/>
              <a:cs typeface="Times New Roman"/>
            </a:endParaRPr>
          </a:p>
          <a:p>
            <a:pPr marL="2195195" algn="ctr">
              <a:lnSpc>
                <a:spcPct val="100000"/>
              </a:lnSpc>
              <a:spcBef>
                <a:spcPts val="1070"/>
              </a:spcBef>
            </a:pPr>
            <a:r>
              <a:rPr sz="1800" spc="80" dirty="0">
                <a:latin typeface="Times New Roman"/>
                <a:cs typeface="Times New Roman"/>
              </a:rPr>
              <a:t>No.63,Anjananagara,Off</a:t>
            </a:r>
            <a:r>
              <a:rPr sz="1800" spc="165" dirty="0">
                <a:latin typeface="Times New Roman"/>
                <a:cs typeface="Times New Roman"/>
              </a:rPr>
              <a:t> </a:t>
            </a:r>
            <a:r>
              <a:rPr sz="1800" spc="75" dirty="0">
                <a:latin typeface="Times New Roman"/>
                <a:cs typeface="Times New Roman"/>
              </a:rPr>
              <a:t>Magadi</a:t>
            </a:r>
            <a:r>
              <a:rPr sz="1800" spc="200" dirty="0">
                <a:latin typeface="Times New Roman"/>
                <a:cs typeface="Times New Roman"/>
              </a:rPr>
              <a:t> </a:t>
            </a:r>
            <a:r>
              <a:rPr sz="1800" spc="75" dirty="0">
                <a:latin typeface="Times New Roman"/>
                <a:cs typeface="Times New Roman"/>
              </a:rPr>
              <a:t>Road,Near</a:t>
            </a:r>
            <a:r>
              <a:rPr sz="1800" spc="170" dirty="0">
                <a:latin typeface="Times New Roman"/>
                <a:cs typeface="Times New Roman"/>
              </a:rPr>
              <a:t> </a:t>
            </a:r>
            <a:r>
              <a:rPr sz="1800" spc="55" dirty="0">
                <a:latin typeface="Times New Roman"/>
                <a:cs typeface="Times New Roman"/>
              </a:rPr>
              <a:t>BEL</a:t>
            </a:r>
            <a:r>
              <a:rPr sz="1800" spc="114" dirty="0">
                <a:latin typeface="Times New Roman"/>
                <a:cs typeface="Times New Roman"/>
              </a:rPr>
              <a:t> </a:t>
            </a:r>
            <a:r>
              <a:rPr sz="1800" spc="80" dirty="0">
                <a:latin typeface="Times New Roman"/>
                <a:cs typeface="Times New Roman"/>
              </a:rPr>
              <a:t>Layout,Bangalore</a:t>
            </a:r>
            <a:r>
              <a:rPr sz="1800" spc="275" dirty="0">
                <a:latin typeface="Times New Roman"/>
                <a:cs typeface="Times New Roman"/>
              </a:rPr>
              <a:t> </a:t>
            </a:r>
            <a:r>
              <a:rPr sz="1800" spc="70" dirty="0">
                <a:latin typeface="Times New Roman"/>
                <a:cs typeface="Times New Roman"/>
              </a:rPr>
              <a:t>Karnataka</a:t>
            </a:r>
            <a:r>
              <a:rPr sz="1800" spc="195" dirty="0">
                <a:latin typeface="Times New Roman"/>
                <a:cs typeface="Times New Roman"/>
              </a:rPr>
              <a:t> </a:t>
            </a:r>
            <a:r>
              <a:rPr sz="1800" spc="70" dirty="0">
                <a:latin typeface="Times New Roman"/>
                <a:cs typeface="Times New Roman"/>
              </a:rPr>
              <a:t>560091</a:t>
            </a:r>
            <a:endParaRPr sz="1800" dirty="0">
              <a:latin typeface="Times New Roman"/>
              <a:cs typeface="Times New Roman"/>
            </a:endParaRPr>
          </a:p>
          <a:p>
            <a:pPr algn="ctr">
              <a:lnSpc>
                <a:spcPct val="100000"/>
              </a:lnSpc>
            </a:pPr>
            <a:endParaRPr sz="2000" dirty="0">
              <a:latin typeface="Times New Roman"/>
              <a:cs typeface="Times New Roman"/>
            </a:endParaRPr>
          </a:p>
          <a:p>
            <a:pPr marL="1990725" algn="ctr">
              <a:lnSpc>
                <a:spcPct val="100000"/>
              </a:lnSpc>
              <a:spcBef>
                <a:spcPts val="1745"/>
              </a:spcBef>
            </a:pPr>
            <a:r>
              <a:rPr sz="2000" b="1" spc="45" dirty="0">
                <a:solidFill>
                  <a:srgbClr val="C00000"/>
                </a:solidFill>
                <a:latin typeface="Times New Roman"/>
                <a:cs typeface="Times New Roman"/>
              </a:rPr>
              <a:t>D</a:t>
            </a:r>
            <a:r>
              <a:rPr sz="2000" b="1" spc="15" dirty="0">
                <a:solidFill>
                  <a:srgbClr val="C00000"/>
                </a:solidFill>
                <a:latin typeface="Times New Roman"/>
                <a:cs typeface="Times New Roman"/>
              </a:rPr>
              <a:t>E</a:t>
            </a:r>
            <a:r>
              <a:rPr sz="2000" b="1" spc="-105" dirty="0">
                <a:solidFill>
                  <a:srgbClr val="C00000"/>
                </a:solidFill>
                <a:latin typeface="Times New Roman"/>
                <a:cs typeface="Times New Roman"/>
              </a:rPr>
              <a:t>P</a:t>
            </a:r>
            <a:r>
              <a:rPr sz="2000" b="1" spc="45" dirty="0">
                <a:solidFill>
                  <a:srgbClr val="C00000"/>
                </a:solidFill>
                <a:latin typeface="Times New Roman"/>
                <a:cs typeface="Times New Roman"/>
              </a:rPr>
              <a:t>A</a:t>
            </a:r>
            <a:r>
              <a:rPr sz="2000" b="1" spc="-25" dirty="0">
                <a:solidFill>
                  <a:srgbClr val="C00000"/>
                </a:solidFill>
                <a:latin typeface="Times New Roman"/>
                <a:cs typeface="Times New Roman"/>
              </a:rPr>
              <a:t>R</a:t>
            </a:r>
            <a:r>
              <a:rPr sz="2000" b="1" spc="15" dirty="0">
                <a:solidFill>
                  <a:srgbClr val="C00000"/>
                </a:solidFill>
                <a:latin typeface="Times New Roman"/>
                <a:cs typeface="Times New Roman"/>
              </a:rPr>
              <a:t>T</a:t>
            </a:r>
            <a:r>
              <a:rPr sz="2000" b="1" spc="55" dirty="0">
                <a:solidFill>
                  <a:srgbClr val="C00000"/>
                </a:solidFill>
                <a:latin typeface="Times New Roman"/>
                <a:cs typeface="Times New Roman"/>
              </a:rPr>
              <a:t>M</a:t>
            </a:r>
            <a:r>
              <a:rPr sz="2000" b="1" spc="15" dirty="0">
                <a:solidFill>
                  <a:srgbClr val="C00000"/>
                </a:solidFill>
                <a:latin typeface="Times New Roman"/>
                <a:cs typeface="Times New Roman"/>
              </a:rPr>
              <a:t>E</a:t>
            </a:r>
            <a:r>
              <a:rPr sz="2000" b="1" spc="45" dirty="0">
                <a:solidFill>
                  <a:srgbClr val="C00000"/>
                </a:solidFill>
                <a:latin typeface="Times New Roman"/>
                <a:cs typeface="Times New Roman"/>
              </a:rPr>
              <a:t>N</a:t>
            </a:r>
            <a:r>
              <a:rPr sz="2000" b="1" spc="15" dirty="0">
                <a:solidFill>
                  <a:srgbClr val="C00000"/>
                </a:solidFill>
                <a:latin typeface="Times New Roman"/>
                <a:cs typeface="Times New Roman"/>
              </a:rPr>
              <a:t>T</a:t>
            </a:r>
            <a:r>
              <a:rPr sz="2000" b="1" spc="-235" dirty="0">
                <a:solidFill>
                  <a:srgbClr val="C00000"/>
                </a:solidFill>
                <a:latin typeface="Times New Roman"/>
                <a:cs typeface="Times New Roman"/>
              </a:rPr>
              <a:t> </a:t>
            </a:r>
            <a:r>
              <a:rPr sz="2000" b="1" spc="15" dirty="0">
                <a:solidFill>
                  <a:srgbClr val="C00000"/>
                </a:solidFill>
                <a:latin typeface="Times New Roman"/>
                <a:cs typeface="Times New Roman"/>
              </a:rPr>
              <a:t>OF</a:t>
            </a:r>
            <a:r>
              <a:rPr sz="2000" b="1" spc="-45" dirty="0">
                <a:solidFill>
                  <a:srgbClr val="C00000"/>
                </a:solidFill>
                <a:latin typeface="Times New Roman"/>
                <a:cs typeface="Times New Roman"/>
              </a:rPr>
              <a:t> </a:t>
            </a:r>
            <a:r>
              <a:rPr sz="2000" b="1" spc="15" dirty="0">
                <a:solidFill>
                  <a:srgbClr val="C00000"/>
                </a:solidFill>
                <a:latin typeface="Times New Roman"/>
                <a:cs typeface="Times New Roman"/>
              </a:rPr>
              <a:t>E</a:t>
            </a:r>
            <a:r>
              <a:rPr sz="2000" b="1" spc="85" dirty="0">
                <a:solidFill>
                  <a:srgbClr val="C00000"/>
                </a:solidFill>
                <a:latin typeface="Times New Roman"/>
                <a:cs typeface="Times New Roman"/>
              </a:rPr>
              <a:t>L</a:t>
            </a:r>
            <a:r>
              <a:rPr sz="2000" b="1" spc="15" dirty="0">
                <a:solidFill>
                  <a:srgbClr val="C00000"/>
                </a:solidFill>
                <a:latin typeface="Times New Roman"/>
                <a:cs typeface="Times New Roman"/>
              </a:rPr>
              <a:t>E</a:t>
            </a:r>
            <a:r>
              <a:rPr sz="2000" b="1" spc="50" dirty="0">
                <a:solidFill>
                  <a:srgbClr val="C00000"/>
                </a:solidFill>
                <a:latin typeface="Times New Roman"/>
                <a:cs typeface="Times New Roman"/>
              </a:rPr>
              <a:t>C</a:t>
            </a:r>
            <a:r>
              <a:rPr sz="2000" b="1" spc="15" dirty="0">
                <a:solidFill>
                  <a:srgbClr val="C00000"/>
                </a:solidFill>
                <a:latin typeface="Times New Roman"/>
                <a:cs typeface="Times New Roman"/>
              </a:rPr>
              <a:t>T</a:t>
            </a:r>
            <a:r>
              <a:rPr sz="2000" b="1" spc="50" dirty="0">
                <a:solidFill>
                  <a:srgbClr val="C00000"/>
                </a:solidFill>
                <a:latin typeface="Times New Roman"/>
                <a:cs typeface="Times New Roman"/>
              </a:rPr>
              <a:t>R</a:t>
            </a:r>
            <a:r>
              <a:rPr sz="2000" b="1" spc="20" dirty="0">
                <a:solidFill>
                  <a:srgbClr val="C00000"/>
                </a:solidFill>
                <a:latin typeface="Times New Roman"/>
                <a:cs typeface="Times New Roman"/>
              </a:rPr>
              <a:t>O</a:t>
            </a:r>
            <a:r>
              <a:rPr sz="2000" b="1" spc="50" dirty="0">
                <a:solidFill>
                  <a:srgbClr val="C00000"/>
                </a:solidFill>
                <a:latin typeface="Times New Roman"/>
                <a:cs typeface="Times New Roman"/>
              </a:rPr>
              <a:t>N</a:t>
            </a:r>
            <a:r>
              <a:rPr sz="2000" b="1" spc="45" dirty="0">
                <a:solidFill>
                  <a:srgbClr val="C00000"/>
                </a:solidFill>
                <a:latin typeface="Times New Roman"/>
                <a:cs typeface="Times New Roman"/>
              </a:rPr>
              <a:t>I</a:t>
            </a:r>
            <a:r>
              <a:rPr sz="2000" b="1" spc="50" dirty="0">
                <a:solidFill>
                  <a:srgbClr val="C00000"/>
                </a:solidFill>
                <a:latin typeface="Times New Roman"/>
                <a:cs typeface="Times New Roman"/>
              </a:rPr>
              <a:t>C</a:t>
            </a:r>
            <a:r>
              <a:rPr sz="2000" b="1" spc="180" dirty="0">
                <a:solidFill>
                  <a:srgbClr val="C00000"/>
                </a:solidFill>
                <a:latin typeface="Times New Roman"/>
                <a:cs typeface="Times New Roman"/>
              </a:rPr>
              <a:t>S</a:t>
            </a:r>
            <a:r>
              <a:rPr sz="2000" b="1" spc="50" dirty="0">
                <a:solidFill>
                  <a:srgbClr val="C00000"/>
                </a:solidFill>
                <a:latin typeface="Times New Roman"/>
                <a:cs typeface="Times New Roman"/>
              </a:rPr>
              <a:t>A</a:t>
            </a:r>
            <a:r>
              <a:rPr sz="2000" b="1" spc="-25" dirty="0">
                <a:solidFill>
                  <a:srgbClr val="C00000"/>
                </a:solidFill>
                <a:latin typeface="Times New Roman"/>
                <a:cs typeface="Times New Roman"/>
              </a:rPr>
              <a:t>N</a:t>
            </a:r>
            <a:r>
              <a:rPr sz="2000" b="1" spc="15" dirty="0">
                <a:solidFill>
                  <a:srgbClr val="C00000"/>
                </a:solidFill>
                <a:latin typeface="Times New Roman"/>
                <a:cs typeface="Times New Roman"/>
              </a:rPr>
              <a:t>D</a:t>
            </a:r>
            <a:r>
              <a:rPr sz="2000" b="1" spc="-240" dirty="0">
                <a:solidFill>
                  <a:srgbClr val="C00000"/>
                </a:solidFill>
                <a:latin typeface="Times New Roman"/>
                <a:cs typeface="Times New Roman"/>
              </a:rPr>
              <a:t> </a:t>
            </a:r>
            <a:r>
              <a:rPr sz="2000" b="1" spc="-25" dirty="0">
                <a:solidFill>
                  <a:srgbClr val="C00000"/>
                </a:solidFill>
                <a:latin typeface="Times New Roman"/>
                <a:cs typeface="Times New Roman"/>
              </a:rPr>
              <a:t>C</a:t>
            </a:r>
            <a:r>
              <a:rPr sz="2000" b="1" spc="20" dirty="0">
                <a:solidFill>
                  <a:srgbClr val="C00000"/>
                </a:solidFill>
                <a:latin typeface="Times New Roman"/>
                <a:cs typeface="Times New Roman"/>
              </a:rPr>
              <a:t>O</a:t>
            </a:r>
            <a:r>
              <a:rPr sz="2000" b="1" spc="55" dirty="0">
                <a:solidFill>
                  <a:srgbClr val="C00000"/>
                </a:solidFill>
                <a:latin typeface="Times New Roman"/>
                <a:cs typeface="Times New Roman"/>
              </a:rPr>
              <a:t>M</a:t>
            </a:r>
            <a:r>
              <a:rPr sz="2000" b="1" spc="-15" dirty="0">
                <a:solidFill>
                  <a:srgbClr val="C00000"/>
                </a:solidFill>
                <a:latin typeface="Times New Roman"/>
                <a:cs typeface="Times New Roman"/>
              </a:rPr>
              <a:t>M</a:t>
            </a:r>
            <a:r>
              <a:rPr sz="2000" b="1" spc="-25" dirty="0">
                <a:solidFill>
                  <a:srgbClr val="C00000"/>
                </a:solidFill>
                <a:latin typeface="Times New Roman"/>
                <a:cs typeface="Times New Roman"/>
              </a:rPr>
              <a:t>U</a:t>
            </a:r>
            <a:r>
              <a:rPr sz="2000" b="1" spc="45" dirty="0">
                <a:solidFill>
                  <a:srgbClr val="C00000"/>
                </a:solidFill>
                <a:latin typeface="Times New Roman"/>
                <a:cs typeface="Times New Roman"/>
              </a:rPr>
              <a:t>N</a:t>
            </a:r>
            <a:r>
              <a:rPr sz="2000" b="1" spc="-30" dirty="0">
                <a:solidFill>
                  <a:srgbClr val="C00000"/>
                </a:solidFill>
                <a:latin typeface="Times New Roman"/>
                <a:cs typeface="Times New Roman"/>
              </a:rPr>
              <a:t>I</a:t>
            </a:r>
            <a:r>
              <a:rPr sz="2000" b="1" spc="45" dirty="0">
                <a:solidFill>
                  <a:srgbClr val="C00000"/>
                </a:solidFill>
                <a:latin typeface="Times New Roman"/>
                <a:cs typeface="Times New Roman"/>
              </a:rPr>
              <a:t>C</a:t>
            </a:r>
            <a:r>
              <a:rPr sz="2000" b="1" spc="-175" dirty="0">
                <a:solidFill>
                  <a:srgbClr val="C00000"/>
                </a:solidFill>
                <a:latin typeface="Times New Roman"/>
                <a:cs typeface="Times New Roman"/>
              </a:rPr>
              <a:t>A</a:t>
            </a:r>
            <a:r>
              <a:rPr sz="2000" b="1" spc="15" dirty="0">
                <a:solidFill>
                  <a:srgbClr val="C00000"/>
                </a:solidFill>
                <a:latin typeface="Times New Roman"/>
                <a:cs typeface="Times New Roman"/>
              </a:rPr>
              <a:t>T</a:t>
            </a:r>
            <a:r>
              <a:rPr sz="2000" b="1" spc="40" dirty="0">
                <a:solidFill>
                  <a:srgbClr val="C00000"/>
                </a:solidFill>
                <a:latin typeface="Times New Roman"/>
                <a:cs typeface="Times New Roman"/>
              </a:rPr>
              <a:t>I</a:t>
            </a:r>
            <a:r>
              <a:rPr sz="2000" b="1" spc="-60" dirty="0">
                <a:solidFill>
                  <a:srgbClr val="C00000"/>
                </a:solidFill>
                <a:latin typeface="Times New Roman"/>
                <a:cs typeface="Times New Roman"/>
              </a:rPr>
              <a:t>O</a:t>
            </a:r>
            <a:r>
              <a:rPr sz="2000" b="1" spc="15" dirty="0">
                <a:solidFill>
                  <a:srgbClr val="C00000"/>
                </a:solidFill>
                <a:latin typeface="Times New Roman"/>
                <a:cs typeface="Times New Roman"/>
              </a:rPr>
              <a:t>N</a:t>
            </a:r>
            <a:r>
              <a:rPr sz="2000" b="1" spc="55" dirty="0">
                <a:solidFill>
                  <a:srgbClr val="C00000"/>
                </a:solidFill>
                <a:latin typeface="Times New Roman"/>
                <a:cs typeface="Times New Roman"/>
              </a:rPr>
              <a:t> </a:t>
            </a:r>
            <a:r>
              <a:rPr sz="2000" b="1" spc="15" dirty="0">
                <a:solidFill>
                  <a:srgbClr val="C00000"/>
                </a:solidFill>
                <a:latin typeface="Times New Roman"/>
                <a:cs typeface="Times New Roman"/>
              </a:rPr>
              <a:t>E</a:t>
            </a:r>
            <a:r>
              <a:rPr sz="2000" b="1" spc="-30" dirty="0">
                <a:solidFill>
                  <a:srgbClr val="C00000"/>
                </a:solidFill>
                <a:latin typeface="Times New Roman"/>
                <a:cs typeface="Times New Roman"/>
              </a:rPr>
              <a:t>N</a:t>
            </a:r>
            <a:r>
              <a:rPr sz="2000" b="1" spc="20" dirty="0">
                <a:solidFill>
                  <a:srgbClr val="C00000"/>
                </a:solidFill>
                <a:latin typeface="Times New Roman"/>
                <a:cs typeface="Times New Roman"/>
              </a:rPr>
              <a:t>G</a:t>
            </a:r>
            <a:r>
              <a:rPr sz="2000" b="1" spc="-35" dirty="0">
                <a:solidFill>
                  <a:srgbClr val="C00000"/>
                </a:solidFill>
                <a:latin typeface="Times New Roman"/>
                <a:cs typeface="Times New Roman"/>
              </a:rPr>
              <a:t>I</a:t>
            </a:r>
            <a:r>
              <a:rPr sz="2000" b="1" spc="45" dirty="0">
                <a:solidFill>
                  <a:srgbClr val="C00000"/>
                </a:solidFill>
                <a:latin typeface="Times New Roman"/>
                <a:cs typeface="Times New Roman"/>
              </a:rPr>
              <a:t>N</a:t>
            </a:r>
            <a:r>
              <a:rPr sz="2000" b="1" spc="15" dirty="0">
                <a:solidFill>
                  <a:srgbClr val="C00000"/>
                </a:solidFill>
                <a:latin typeface="Times New Roman"/>
                <a:cs typeface="Times New Roman"/>
              </a:rPr>
              <a:t>EE</a:t>
            </a:r>
            <a:r>
              <a:rPr sz="2000" b="1" spc="-30" dirty="0">
                <a:solidFill>
                  <a:srgbClr val="C00000"/>
                </a:solidFill>
                <a:latin typeface="Times New Roman"/>
                <a:cs typeface="Times New Roman"/>
              </a:rPr>
              <a:t>R</a:t>
            </a:r>
            <a:r>
              <a:rPr sz="2000" b="1" spc="40" dirty="0">
                <a:solidFill>
                  <a:srgbClr val="C00000"/>
                </a:solidFill>
                <a:latin typeface="Times New Roman"/>
                <a:cs typeface="Times New Roman"/>
              </a:rPr>
              <a:t>I</a:t>
            </a:r>
            <a:r>
              <a:rPr sz="2000" b="1" spc="-25" dirty="0">
                <a:solidFill>
                  <a:srgbClr val="C00000"/>
                </a:solidFill>
                <a:latin typeface="Times New Roman"/>
                <a:cs typeface="Times New Roman"/>
              </a:rPr>
              <a:t>N</a:t>
            </a:r>
            <a:r>
              <a:rPr sz="2000" b="1" spc="20" dirty="0">
                <a:solidFill>
                  <a:srgbClr val="C00000"/>
                </a:solidFill>
                <a:latin typeface="Times New Roman"/>
                <a:cs typeface="Times New Roman"/>
              </a:rPr>
              <a:t>G</a:t>
            </a:r>
            <a:endParaRPr sz="2000" dirty="0">
              <a:latin typeface="Times New Roman"/>
              <a:cs typeface="Times New Roman"/>
            </a:endParaRPr>
          </a:p>
          <a:p>
            <a:pPr marL="1991360" algn="ctr">
              <a:lnSpc>
                <a:spcPct val="100000"/>
              </a:lnSpc>
              <a:spcBef>
                <a:spcPts val="1130"/>
              </a:spcBef>
            </a:pPr>
            <a:r>
              <a:rPr sz="1850" b="1" spc="25" dirty="0">
                <a:solidFill>
                  <a:srgbClr val="001F5F"/>
                </a:solidFill>
                <a:latin typeface="Times New Roman"/>
                <a:cs typeface="Times New Roman"/>
              </a:rPr>
              <a:t>MINI</a:t>
            </a:r>
            <a:r>
              <a:rPr sz="1850" b="1" spc="-10" dirty="0">
                <a:solidFill>
                  <a:srgbClr val="001F5F"/>
                </a:solidFill>
                <a:latin typeface="Times New Roman"/>
                <a:cs typeface="Times New Roman"/>
              </a:rPr>
              <a:t> </a:t>
            </a:r>
            <a:r>
              <a:rPr sz="1850" b="1" spc="25" dirty="0">
                <a:solidFill>
                  <a:srgbClr val="001F5F"/>
                </a:solidFill>
                <a:latin typeface="Times New Roman"/>
                <a:cs typeface="Times New Roman"/>
              </a:rPr>
              <a:t>PROJECT</a:t>
            </a:r>
            <a:r>
              <a:rPr sz="1850" b="1" spc="-80" dirty="0">
                <a:solidFill>
                  <a:srgbClr val="001F5F"/>
                </a:solidFill>
                <a:latin typeface="Times New Roman"/>
                <a:cs typeface="Times New Roman"/>
              </a:rPr>
              <a:t> </a:t>
            </a:r>
            <a:r>
              <a:rPr sz="1850" b="1" spc="30" dirty="0">
                <a:solidFill>
                  <a:srgbClr val="001F5F"/>
                </a:solidFill>
                <a:latin typeface="Times New Roman"/>
                <a:cs typeface="Times New Roman"/>
              </a:rPr>
              <a:t>WORK</a:t>
            </a:r>
            <a:r>
              <a:rPr sz="1850" b="1" spc="15" dirty="0">
                <a:solidFill>
                  <a:srgbClr val="001F5F"/>
                </a:solidFill>
                <a:latin typeface="Times New Roman"/>
                <a:cs typeface="Times New Roman"/>
              </a:rPr>
              <a:t> (</a:t>
            </a:r>
            <a:r>
              <a:rPr lang="en-US" sz="1850" b="1" spc="15" dirty="0">
                <a:solidFill>
                  <a:srgbClr val="001F5F"/>
                </a:solidFill>
                <a:latin typeface="Times New Roman"/>
                <a:cs typeface="Times New Roman"/>
              </a:rPr>
              <a:t>BEC586)</a:t>
            </a:r>
          </a:p>
          <a:p>
            <a:pPr marL="1991360" algn="ctr">
              <a:lnSpc>
                <a:spcPct val="100000"/>
              </a:lnSpc>
              <a:spcBef>
                <a:spcPts val="1130"/>
              </a:spcBef>
            </a:pPr>
            <a:endParaRPr sz="1850" dirty="0">
              <a:latin typeface="Times New Roman"/>
              <a:cs typeface="Times New Roman"/>
            </a:endParaRPr>
          </a:p>
          <a:p>
            <a:pPr algn="ctr">
              <a:spcBef>
                <a:spcPts val="45"/>
              </a:spcBef>
            </a:pPr>
            <a:r>
              <a:rPr lang="en-IN" sz="1800" b="1" spc="-5" dirty="0">
                <a:solidFill>
                  <a:srgbClr val="0D0D0D"/>
                </a:solidFill>
                <a:latin typeface="Times New Roman"/>
                <a:cs typeface="Times New Roman"/>
              </a:rPr>
              <a:t>                               PROJECT</a:t>
            </a:r>
            <a:r>
              <a:rPr lang="en-IN" sz="1800" b="1" spc="-45" dirty="0">
                <a:solidFill>
                  <a:srgbClr val="0D0D0D"/>
                </a:solidFill>
                <a:latin typeface="Times New Roman"/>
                <a:cs typeface="Times New Roman"/>
              </a:rPr>
              <a:t> </a:t>
            </a:r>
            <a:r>
              <a:rPr lang="en-IN" sz="1800" b="1" spc="-5" dirty="0">
                <a:solidFill>
                  <a:srgbClr val="0D0D0D"/>
                </a:solidFill>
                <a:latin typeface="Times New Roman"/>
                <a:cs typeface="Times New Roman"/>
              </a:rPr>
              <a:t>PHASE-1</a:t>
            </a:r>
            <a:r>
              <a:rPr lang="en-IN" sz="1800" b="1" spc="-10" dirty="0">
                <a:solidFill>
                  <a:srgbClr val="0D0D0D"/>
                </a:solidFill>
                <a:latin typeface="Times New Roman"/>
                <a:cs typeface="Times New Roman"/>
              </a:rPr>
              <a:t> </a:t>
            </a:r>
            <a:r>
              <a:rPr lang="en-IN" sz="1800" b="1" spc="5" dirty="0">
                <a:solidFill>
                  <a:srgbClr val="0D0D0D"/>
                </a:solidFill>
                <a:latin typeface="Times New Roman"/>
                <a:cs typeface="Times New Roman"/>
              </a:rPr>
              <a:t>REVIEW</a:t>
            </a:r>
          </a:p>
          <a:p>
            <a:pPr algn="ctr">
              <a:spcBef>
                <a:spcPts val="45"/>
              </a:spcBef>
            </a:pPr>
            <a:r>
              <a:rPr lang="en-IN" b="1" spc="5" dirty="0">
                <a:solidFill>
                  <a:srgbClr val="0D0D0D"/>
                </a:solidFill>
                <a:latin typeface="Times New Roman"/>
                <a:cs typeface="Times New Roman"/>
              </a:rPr>
              <a:t>                   on</a:t>
            </a:r>
            <a:endParaRPr sz="1800" dirty="0">
              <a:latin typeface="Times New Roman"/>
              <a:cs typeface="Times New Roman"/>
            </a:endParaRPr>
          </a:p>
          <a:p>
            <a:pPr marL="1983105" algn="ctr">
              <a:lnSpc>
                <a:spcPct val="100000"/>
              </a:lnSpc>
              <a:spcBef>
                <a:spcPts val="1010"/>
              </a:spcBef>
            </a:pPr>
            <a:r>
              <a:rPr sz="2400" b="1" spc="-25" dirty="0">
                <a:solidFill>
                  <a:srgbClr val="521708"/>
                </a:solidFill>
                <a:latin typeface="Times New Roman"/>
                <a:cs typeface="Times New Roman"/>
              </a:rPr>
              <a:t>“</a:t>
            </a:r>
            <a:r>
              <a:rPr lang="en-US" sz="2400" b="1" spc="-280" dirty="0">
                <a:solidFill>
                  <a:srgbClr val="521708"/>
                </a:solidFill>
                <a:latin typeface="Times New Roman"/>
                <a:cs typeface="Times New Roman"/>
              </a:rPr>
              <a:t>VOICE  CONTROL  HOME  AUTOMATION  WITH  SMART  DOOR  LOCK </a:t>
            </a:r>
            <a:r>
              <a:rPr sz="2400" b="1" spc="15" dirty="0">
                <a:solidFill>
                  <a:srgbClr val="521708"/>
                </a:solidFill>
                <a:latin typeface="Times New Roman"/>
                <a:cs typeface="Times New Roman"/>
              </a:rPr>
              <a:t>”</a:t>
            </a:r>
            <a:endParaRPr sz="2400" dirty="0">
              <a:latin typeface="Times New Roman"/>
              <a:cs typeface="Times New Roman"/>
            </a:endParaRPr>
          </a:p>
          <a:p>
            <a:pPr algn="ctr">
              <a:lnSpc>
                <a:spcPct val="100000"/>
              </a:lnSpc>
              <a:spcBef>
                <a:spcPts val="20"/>
              </a:spcBef>
            </a:pPr>
            <a:endParaRPr lang="en-IN" sz="2050" dirty="0">
              <a:latin typeface="Times New Roman"/>
              <a:cs typeface="Times New Roman"/>
            </a:endParaRPr>
          </a:p>
          <a:p>
            <a:pPr marL="12700" algn="ctr">
              <a:lnSpc>
                <a:spcPct val="100000"/>
              </a:lnSpc>
            </a:pPr>
            <a:r>
              <a:rPr lang="en-IN" sz="1800" spc="-10" dirty="0">
                <a:solidFill>
                  <a:srgbClr val="001F5F"/>
                </a:solidFill>
                <a:latin typeface="Times New Roman"/>
                <a:cs typeface="Times New Roman"/>
              </a:rPr>
              <a:t>                                 </a:t>
            </a:r>
            <a:endParaRPr lang="en-IN" sz="1800" dirty="0">
              <a:latin typeface="Times New Roman"/>
              <a:cs typeface="Times New Roman"/>
            </a:endParaRPr>
          </a:p>
        </p:txBody>
      </p:sp>
      <p:pic>
        <p:nvPicPr>
          <p:cNvPr id="11" name="object 9">
            <a:extLst>
              <a:ext uri="{FF2B5EF4-FFF2-40B4-BE49-F238E27FC236}">
                <a16:creationId xmlns:a16="http://schemas.microsoft.com/office/drawing/2014/main" id="{E0AA2406-1738-31F8-254F-02F07839EEF5}"/>
              </a:ext>
            </a:extLst>
          </p:cNvPr>
          <p:cNvPicPr/>
          <p:nvPr/>
        </p:nvPicPr>
        <p:blipFill>
          <a:blip r:embed="rId3" cstate="print"/>
          <a:stretch>
            <a:fillRect/>
          </a:stretch>
        </p:blipFill>
        <p:spPr>
          <a:xfrm>
            <a:off x="10732770" y="40933"/>
            <a:ext cx="1510588" cy="1319237"/>
          </a:xfrm>
          <a:prstGeom prst="rect">
            <a:avLst/>
          </a:prstGeom>
        </p:spPr>
      </p:pic>
    </p:spTree>
    <p:extLst>
      <p:ext uri="{BB962C8B-B14F-4D97-AF65-F5344CB8AC3E}">
        <p14:creationId xmlns:p14="http://schemas.microsoft.com/office/powerpoint/2010/main" val="1218907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3548A02C-5255-65D5-355E-AF5F79C770D3}"/>
              </a:ext>
            </a:extLst>
          </p:cNvPr>
          <p:cNvSpPr txBox="1">
            <a:spLocks/>
          </p:cNvSpPr>
          <p:nvPr/>
        </p:nvSpPr>
        <p:spPr>
          <a:xfrm>
            <a:off x="700404" y="281686"/>
            <a:ext cx="2678430" cy="1137491"/>
          </a:xfrm>
          <a:prstGeom prst="rect">
            <a:avLst/>
          </a:prstGeom>
        </p:spPr>
        <p:txBody>
          <a:bodyPr vert="horz" wrap="square" lIns="0" tIns="16510" rIns="0" bIns="0" rtlCol="0">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30"/>
              </a:spcBef>
            </a:pPr>
            <a:endParaRPr lang="en-IN" spc="60" dirty="0">
              <a:latin typeface="Times New Roman"/>
              <a:cs typeface="Times New Roman"/>
            </a:endParaRPr>
          </a:p>
          <a:p>
            <a:pPr marL="12700">
              <a:spcBef>
                <a:spcPts val="130"/>
              </a:spcBef>
            </a:pPr>
            <a:r>
              <a:rPr lang="en-IN" spc="60" dirty="0">
                <a:latin typeface="Times New Roman"/>
                <a:cs typeface="Times New Roman"/>
              </a:rPr>
              <a:t>C</a:t>
            </a:r>
            <a:r>
              <a:rPr lang="en-IN" dirty="0">
                <a:latin typeface="Times New Roman"/>
                <a:cs typeface="Times New Roman"/>
              </a:rPr>
              <a:t>O</a:t>
            </a:r>
            <a:r>
              <a:rPr lang="en-IN" spc="70" dirty="0">
                <a:latin typeface="Times New Roman"/>
                <a:cs typeface="Times New Roman"/>
              </a:rPr>
              <a:t>N</a:t>
            </a:r>
            <a:r>
              <a:rPr lang="en-IN" spc="-15" dirty="0">
                <a:latin typeface="Times New Roman"/>
                <a:cs typeface="Times New Roman"/>
              </a:rPr>
              <a:t>T</a:t>
            </a:r>
            <a:r>
              <a:rPr lang="en-IN" spc="55" dirty="0">
                <a:latin typeface="Times New Roman"/>
                <a:cs typeface="Times New Roman"/>
              </a:rPr>
              <a:t>E</a:t>
            </a:r>
            <a:r>
              <a:rPr lang="en-IN" dirty="0">
                <a:latin typeface="Times New Roman"/>
                <a:cs typeface="Times New Roman"/>
              </a:rPr>
              <a:t>N</a:t>
            </a:r>
            <a:r>
              <a:rPr lang="en-IN" spc="55" dirty="0">
                <a:latin typeface="Times New Roman"/>
                <a:cs typeface="Times New Roman"/>
              </a:rPr>
              <a:t>T</a:t>
            </a:r>
            <a:r>
              <a:rPr lang="en-IN" spc="15" dirty="0">
                <a:latin typeface="Times New Roman"/>
                <a:cs typeface="Times New Roman"/>
              </a:rPr>
              <a:t>S</a:t>
            </a:r>
            <a:endParaRPr lang="en-IN" dirty="0">
              <a:latin typeface="Times New Roman"/>
              <a:cs typeface="Times New Roman"/>
            </a:endParaRPr>
          </a:p>
        </p:txBody>
      </p:sp>
      <p:sp>
        <p:nvSpPr>
          <p:cNvPr id="3" name="object 3">
            <a:extLst>
              <a:ext uri="{FF2B5EF4-FFF2-40B4-BE49-F238E27FC236}">
                <a16:creationId xmlns:a16="http://schemas.microsoft.com/office/drawing/2014/main" id="{E8188D53-B0ED-57CA-45A8-F4585720552B}"/>
              </a:ext>
            </a:extLst>
          </p:cNvPr>
          <p:cNvSpPr txBox="1"/>
          <p:nvPr/>
        </p:nvSpPr>
        <p:spPr>
          <a:xfrm>
            <a:off x="700404" y="1676400"/>
            <a:ext cx="5286375" cy="4959050"/>
          </a:xfrm>
          <a:prstGeom prst="rect">
            <a:avLst/>
          </a:prstGeom>
        </p:spPr>
        <p:txBody>
          <a:bodyPr vert="horz" wrap="square" lIns="0" tIns="199390" rIns="0" bIns="0" rtlCol="0">
            <a:spAutoFit/>
          </a:bodyPr>
          <a:lstStyle/>
          <a:p>
            <a:pPr marL="298450" indent="-286385">
              <a:lnSpc>
                <a:spcPct val="100000"/>
              </a:lnSpc>
              <a:spcBef>
                <a:spcPts val="1570"/>
              </a:spcBef>
              <a:buFont typeface="Arial MT"/>
              <a:buChar char="•"/>
              <a:tabLst>
                <a:tab pos="298450" algn="l"/>
                <a:tab pos="299085" algn="l"/>
              </a:tabLst>
            </a:pPr>
            <a:r>
              <a:rPr sz="2000" dirty="0">
                <a:latin typeface="Times New Roman"/>
                <a:cs typeface="Times New Roman"/>
              </a:rPr>
              <a:t>ABSTRACT</a:t>
            </a:r>
          </a:p>
          <a:p>
            <a:pPr marL="298450" indent="-286385">
              <a:lnSpc>
                <a:spcPct val="100000"/>
              </a:lnSpc>
              <a:spcBef>
                <a:spcPts val="1475"/>
              </a:spcBef>
              <a:buFont typeface="Arial MT"/>
              <a:buChar char="•"/>
              <a:tabLst>
                <a:tab pos="298450" algn="l"/>
                <a:tab pos="299085" algn="l"/>
              </a:tabLst>
            </a:pPr>
            <a:r>
              <a:rPr sz="2000" spc="-5" dirty="0">
                <a:latin typeface="Times New Roman"/>
                <a:cs typeface="Times New Roman"/>
              </a:rPr>
              <a:t>INTRODUCTION</a:t>
            </a:r>
            <a:endParaRPr lang="en-US" sz="2000" spc="-5" dirty="0">
              <a:latin typeface="Times New Roman"/>
              <a:cs typeface="Times New Roman"/>
            </a:endParaRPr>
          </a:p>
          <a:p>
            <a:pPr marL="298450" indent="-286385">
              <a:lnSpc>
                <a:spcPct val="100000"/>
              </a:lnSpc>
              <a:spcBef>
                <a:spcPts val="1475"/>
              </a:spcBef>
              <a:buFont typeface="Arial MT"/>
              <a:buChar char="•"/>
              <a:tabLst>
                <a:tab pos="298450" algn="l"/>
                <a:tab pos="299085" algn="l"/>
              </a:tabLst>
            </a:pPr>
            <a:r>
              <a:rPr lang="en-IN" sz="2000" spc="30" dirty="0">
                <a:latin typeface="Times New Roman"/>
                <a:cs typeface="Times New Roman"/>
              </a:rPr>
              <a:t>M</a:t>
            </a:r>
            <a:r>
              <a:rPr lang="en-IN" sz="2000" spc="-15" dirty="0">
                <a:latin typeface="Times New Roman"/>
                <a:cs typeface="Times New Roman"/>
              </a:rPr>
              <a:t>O</a:t>
            </a:r>
            <a:r>
              <a:rPr lang="en-IN" sz="2000" spc="-45" dirty="0">
                <a:latin typeface="Times New Roman"/>
                <a:cs typeface="Times New Roman"/>
              </a:rPr>
              <a:t>T</a:t>
            </a:r>
            <a:r>
              <a:rPr lang="en-IN" sz="2000" spc="20" dirty="0">
                <a:latin typeface="Times New Roman"/>
                <a:cs typeface="Times New Roman"/>
              </a:rPr>
              <a:t>I</a:t>
            </a:r>
            <a:r>
              <a:rPr lang="en-IN" sz="2000" spc="-315" dirty="0">
                <a:latin typeface="Times New Roman"/>
                <a:cs typeface="Times New Roman"/>
              </a:rPr>
              <a:t>V </a:t>
            </a:r>
            <a:r>
              <a:rPr lang="en-IN" sz="2000" spc="-240" dirty="0">
                <a:latin typeface="Times New Roman"/>
                <a:cs typeface="Times New Roman"/>
              </a:rPr>
              <a:t>A </a:t>
            </a:r>
            <a:r>
              <a:rPr lang="en-IN" sz="2000" spc="-45" dirty="0">
                <a:latin typeface="Times New Roman"/>
                <a:cs typeface="Times New Roman"/>
              </a:rPr>
              <a:t>T</a:t>
            </a:r>
            <a:r>
              <a:rPr lang="en-IN" sz="2000" spc="20" dirty="0">
                <a:latin typeface="Times New Roman"/>
                <a:cs typeface="Times New Roman"/>
              </a:rPr>
              <a:t>I</a:t>
            </a:r>
            <a:r>
              <a:rPr lang="en-IN" sz="2000" spc="-15" dirty="0">
                <a:latin typeface="Times New Roman"/>
                <a:cs typeface="Times New Roman"/>
              </a:rPr>
              <a:t>O</a:t>
            </a:r>
            <a:r>
              <a:rPr lang="en-IN" sz="2000" dirty="0">
                <a:latin typeface="Times New Roman"/>
                <a:cs typeface="Times New Roman"/>
              </a:rPr>
              <a:t>N</a:t>
            </a:r>
          </a:p>
          <a:p>
            <a:pPr marL="298450" indent="-286385">
              <a:spcBef>
                <a:spcPts val="1475"/>
              </a:spcBef>
              <a:buFont typeface="Arial MT"/>
              <a:buChar char="•"/>
              <a:tabLst>
                <a:tab pos="298450" algn="l"/>
                <a:tab pos="299085" algn="l"/>
              </a:tabLst>
            </a:pPr>
            <a:r>
              <a:rPr lang="en-IN" sz="2000" dirty="0">
                <a:latin typeface="Times New Roman"/>
                <a:cs typeface="Times New Roman"/>
              </a:rPr>
              <a:t>PROBLEM</a:t>
            </a:r>
            <a:r>
              <a:rPr lang="en-IN" sz="2000" spc="-65" dirty="0">
                <a:latin typeface="Times New Roman"/>
                <a:cs typeface="Times New Roman"/>
              </a:rPr>
              <a:t> </a:t>
            </a:r>
            <a:r>
              <a:rPr lang="en-IN" sz="2000" spc="-55" dirty="0">
                <a:latin typeface="Times New Roman"/>
                <a:cs typeface="Times New Roman"/>
              </a:rPr>
              <a:t>STATEMENT</a:t>
            </a:r>
            <a:endParaRPr sz="2000" dirty="0">
              <a:latin typeface="Times New Roman"/>
              <a:cs typeface="Times New Roman"/>
            </a:endParaRPr>
          </a:p>
          <a:p>
            <a:pPr marL="298450" indent="-286385">
              <a:lnSpc>
                <a:spcPct val="100000"/>
              </a:lnSpc>
              <a:spcBef>
                <a:spcPts val="1405"/>
              </a:spcBef>
              <a:buFont typeface="Arial MT"/>
              <a:buChar char="•"/>
              <a:tabLst>
                <a:tab pos="298450" algn="l"/>
                <a:tab pos="299085" algn="l"/>
              </a:tabLst>
            </a:pPr>
            <a:r>
              <a:rPr sz="2000" spc="-35" dirty="0">
                <a:latin typeface="Times New Roman"/>
                <a:cs typeface="Times New Roman"/>
              </a:rPr>
              <a:t>LITERATURE</a:t>
            </a:r>
            <a:r>
              <a:rPr sz="2000" spc="-5" dirty="0">
                <a:latin typeface="Times New Roman"/>
                <a:cs typeface="Times New Roman"/>
              </a:rPr>
              <a:t> </a:t>
            </a:r>
            <a:r>
              <a:rPr sz="2000" spc="-40" dirty="0">
                <a:latin typeface="Times New Roman"/>
                <a:cs typeface="Times New Roman"/>
              </a:rPr>
              <a:t>SURVEY</a:t>
            </a:r>
            <a:endParaRPr sz="2000" dirty="0">
              <a:latin typeface="Times New Roman"/>
              <a:cs typeface="Times New Roman"/>
            </a:endParaRPr>
          </a:p>
          <a:p>
            <a:pPr marL="298450" indent="-286385">
              <a:lnSpc>
                <a:spcPct val="100000"/>
              </a:lnSpc>
              <a:spcBef>
                <a:spcPts val="1475"/>
              </a:spcBef>
              <a:buFont typeface="Arial MT"/>
              <a:buChar char="•"/>
              <a:tabLst>
                <a:tab pos="298450" algn="l"/>
                <a:tab pos="299085" algn="l"/>
              </a:tabLst>
            </a:pPr>
            <a:r>
              <a:rPr sz="2000" spc="-15" dirty="0">
                <a:latin typeface="Times New Roman"/>
                <a:cs typeface="Times New Roman"/>
              </a:rPr>
              <a:t>O</a:t>
            </a:r>
            <a:r>
              <a:rPr sz="2000" spc="40" dirty="0">
                <a:latin typeface="Times New Roman"/>
                <a:cs typeface="Times New Roman"/>
              </a:rPr>
              <a:t>B</a:t>
            </a:r>
            <a:r>
              <a:rPr sz="2000" spc="-40" dirty="0">
                <a:latin typeface="Times New Roman"/>
                <a:cs typeface="Times New Roman"/>
              </a:rPr>
              <a:t>J</a:t>
            </a:r>
            <a:r>
              <a:rPr sz="2000" spc="25" dirty="0">
                <a:latin typeface="Times New Roman"/>
                <a:cs typeface="Times New Roman"/>
              </a:rPr>
              <a:t>E</a:t>
            </a:r>
            <a:r>
              <a:rPr sz="2000" spc="-30" dirty="0">
                <a:latin typeface="Times New Roman"/>
                <a:cs typeface="Times New Roman"/>
              </a:rPr>
              <a:t>C</a:t>
            </a:r>
            <a:r>
              <a:rPr sz="2000" spc="-45" dirty="0">
                <a:latin typeface="Times New Roman"/>
                <a:cs typeface="Times New Roman"/>
              </a:rPr>
              <a:t>T</a:t>
            </a:r>
            <a:r>
              <a:rPr sz="2000" spc="20" dirty="0">
                <a:latin typeface="Times New Roman"/>
                <a:cs typeface="Times New Roman"/>
              </a:rPr>
              <a:t>I</a:t>
            </a:r>
            <a:r>
              <a:rPr sz="2000" spc="-15" dirty="0">
                <a:latin typeface="Times New Roman"/>
                <a:cs typeface="Times New Roman"/>
              </a:rPr>
              <a:t>V</a:t>
            </a:r>
            <a:r>
              <a:rPr sz="2000" spc="25" dirty="0">
                <a:latin typeface="Times New Roman"/>
                <a:cs typeface="Times New Roman"/>
              </a:rPr>
              <a:t>E</a:t>
            </a:r>
            <a:r>
              <a:rPr sz="2000" dirty="0">
                <a:latin typeface="Times New Roman"/>
                <a:cs typeface="Times New Roman"/>
              </a:rPr>
              <a:t>S</a:t>
            </a:r>
          </a:p>
          <a:p>
            <a:pPr marL="298450" indent="-286385">
              <a:lnSpc>
                <a:spcPct val="100000"/>
              </a:lnSpc>
              <a:spcBef>
                <a:spcPts val="1400"/>
              </a:spcBef>
              <a:buFont typeface="Arial MT"/>
              <a:buChar char="•"/>
              <a:tabLst>
                <a:tab pos="298450" algn="l"/>
                <a:tab pos="299085" algn="l"/>
              </a:tabLst>
            </a:pPr>
            <a:r>
              <a:rPr lang="en-US" sz="2000" spc="-5" dirty="0">
                <a:latin typeface="Times New Roman"/>
                <a:cs typeface="Times New Roman"/>
              </a:rPr>
              <a:t>DESIGN </a:t>
            </a:r>
            <a:r>
              <a:rPr sz="2000" spc="-5" dirty="0">
                <a:latin typeface="Times New Roman"/>
                <a:cs typeface="Times New Roman"/>
              </a:rPr>
              <a:t>METHODOLOGY</a:t>
            </a:r>
            <a:endParaRPr lang="en-US" sz="2000" spc="-5" dirty="0">
              <a:latin typeface="Times New Roman"/>
              <a:cs typeface="Times New Roman"/>
            </a:endParaRPr>
          </a:p>
          <a:p>
            <a:pPr marL="298450" indent="-286385">
              <a:lnSpc>
                <a:spcPct val="100000"/>
              </a:lnSpc>
              <a:spcBef>
                <a:spcPts val="1400"/>
              </a:spcBef>
              <a:buFont typeface="Arial MT"/>
              <a:buChar char="•"/>
              <a:tabLst>
                <a:tab pos="298450" algn="l"/>
                <a:tab pos="299085" algn="l"/>
              </a:tabLst>
            </a:pPr>
            <a:r>
              <a:rPr lang="en-US" sz="2000" spc="-5" dirty="0">
                <a:latin typeface="Times New Roman"/>
                <a:cs typeface="Times New Roman"/>
              </a:rPr>
              <a:t>B</a:t>
            </a:r>
            <a:r>
              <a:rPr lang="en-IN" sz="2000" spc="-5" dirty="0">
                <a:latin typeface="Times New Roman"/>
                <a:cs typeface="Times New Roman"/>
              </a:rPr>
              <a:t>LOCK DIAGRAM</a:t>
            </a:r>
            <a:endParaRPr lang="en-US" sz="2000" spc="-5" dirty="0">
              <a:latin typeface="Times New Roman"/>
              <a:cs typeface="Times New Roman"/>
            </a:endParaRPr>
          </a:p>
          <a:p>
            <a:pPr marL="298450" indent="-286385">
              <a:lnSpc>
                <a:spcPct val="100000"/>
              </a:lnSpc>
              <a:spcBef>
                <a:spcPts val="1400"/>
              </a:spcBef>
              <a:buFont typeface="Arial MT"/>
              <a:buChar char="•"/>
              <a:tabLst>
                <a:tab pos="298450" algn="l"/>
                <a:tab pos="299085" algn="l"/>
              </a:tabLst>
            </a:pPr>
            <a:r>
              <a:rPr lang="en-IN" sz="2000" spc="-5" dirty="0">
                <a:latin typeface="Times New Roman"/>
                <a:cs typeface="Times New Roman"/>
              </a:rPr>
              <a:t>COMPONENTS REQUIRED</a:t>
            </a:r>
          </a:p>
          <a:p>
            <a:pPr marL="354965" indent="-342900">
              <a:lnSpc>
                <a:spcPct val="100000"/>
              </a:lnSpc>
              <a:spcBef>
                <a:spcPts val="1475"/>
              </a:spcBef>
              <a:buFont typeface="Arial" panose="020B0604020202020204" pitchFamily="34" charset="0"/>
              <a:buChar char="•"/>
              <a:tabLst>
                <a:tab pos="298450" algn="l"/>
                <a:tab pos="299085" algn="l"/>
              </a:tabLst>
            </a:pPr>
            <a:r>
              <a:rPr lang="en-IN" sz="2000" dirty="0">
                <a:latin typeface="Times New Roman"/>
                <a:cs typeface="Times New Roman"/>
              </a:rPr>
              <a:t>REFERENCES</a:t>
            </a:r>
            <a:endParaRPr sz="2000" dirty="0">
              <a:latin typeface="Times New Roman"/>
              <a:cs typeface="Times New Roman"/>
            </a:endParaRPr>
          </a:p>
        </p:txBody>
      </p:sp>
    </p:spTree>
    <p:extLst>
      <p:ext uri="{BB962C8B-B14F-4D97-AF65-F5344CB8AC3E}">
        <p14:creationId xmlns:p14="http://schemas.microsoft.com/office/powerpoint/2010/main" val="244937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A43F9C9-96EC-7BE9-62E0-636104B18A78}"/>
              </a:ext>
            </a:extLst>
          </p:cNvPr>
          <p:cNvSpPr txBox="1">
            <a:spLocks/>
          </p:cNvSpPr>
          <p:nvPr/>
        </p:nvSpPr>
        <p:spPr>
          <a:xfrm>
            <a:off x="223724" y="580552"/>
            <a:ext cx="2677795" cy="570669"/>
          </a:xfrm>
          <a:prstGeom prst="rect">
            <a:avLst/>
          </a:prstGeom>
        </p:spPr>
        <p:txBody>
          <a:bodyPr vert="horz" wrap="square" lIns="0" tIns="16510" rIns="0" bIns="0" rtlCol="0">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30"/>
              </a:spcBef>
            </a:pPr>
            <a:r>
              <a:rPr lang="en-IN" spc="25" dirty="0">
                <a:latin typeface="Times New Roman"/>
                <a:cs typeface="Times New Roman"/>
              </a:rPr>
              <a:t>ABSTRACT</a:t>
            </a:r>
          </a:p>
        </p:txBody>
      </p:sp>
      <p:sp>
        <p:nvSpPr>
          <p:cNvPr id="3" name="object 3">
            <a:extLst>
              <a:ext uri="{FF2B5EF4-FFF2-40B4-BE49-F238E27FC236}">
                <a16:creationId xmlns:a16="http://schemas.microsoft.com/office/drawing/2014/main" id="{1E1AEBB3-8534-0994-190D-932C5688DC3A}"/>
              </a:ext>
            </a:extLst>
          </p:cNvPr>
          <p:cNvSpPr txBox="1"/>
          <p:nvPr/>
        </p:nvSpPr>
        <p:spPr>
          <a:xfrm>
            <a:off x="348343" y="1847144"/>
            <a:ext cx="11495314" cy="4287071"/>
          </a:xfrm>
          <a:prstGeom prst="rect">
            <a:avLst/>
          </a:prstGeom>
        </p:spPr>
        <p:txBody>
          <a:bodyPr vert="horz" wrap="square" lIns="0" tIns="8890" rIns="0" bIns="0" rtlCol="0">
            <a:spAutoFit/>
          </a:bodyPr>
          <a:lstStyle/>
          <a:p>
            <a:pPr marL="12700" algn="just"/>
            <a:r>
              <a:rPr lang="en-US" sz="2000" dirty="0">
                <a:latin typeface="Times New Roman" panose="02020603050405020304" pitchFamily="18" charset="0"/>
                <a:cs typeface="Times New Roman" panose="02020603050405020304" pitchFamily="18" charset="0"/>
              </a:rPr>
              <a:t>IoT-enabled smart home automation system utilizing theESP32 microcontroller to enhance home management through real-time remote control. The proposed system integrates various sensors, including temperature, humidity, motion(PIR), light, and raindrop sensors, to automate tasks based on environmental conditions, thereby improving energy efficiency and convenience. Additionally, the system incorporates an RFID-based door locking mechanism for enhanced security and supports voice commands for hands-free operation catering to individuals with mobility limitations. A web interface allows users to monitor and control connected devices remotely via Wi-Fi, offering a seamless and user-friendly experience. Emphasis is placed on secure communication protocols to safeguard user data, while a modular architecture ensures scalability for future enhancements. This solution demonstrates the potential of IoT technologies to create energy-efficient, secure, and accessible smart home systems,addressing modern demands for sustainable living.</a:t>
            </a:r>
          </a:p>
          <a:p>
            <a:pPr marL="12700" algn="just"/>
            <a:endParaRPr lang="en-US" sz="2000" dirty="0">
              <a:latin typeface="Times New Roman" panose="02020603050405020304" pitchFamily="18" charset="0"/>
              <a:cs typeface="Times New Roman" panose="02020603050405020304" pitchFamily="18" charset="0"/>
            </a:endParaRPr>
          </a:p>
          <a:p>
            <a:pPr marL="12700" algn="just"/>
            <a:endParaRPr lang="en-IN" dirty="0"/>
          </a:p>
          <a:p>
            <a:pPr marL="12700" algn="just">
              <a:lnSpc>
                <a:spcPct val="100000"/>
              </a:lnSpc>
            </a:pPr>
            <a:r>
              <a:rPr lang="en-US" sz="2000" b="1" spc="30" dirty="0">
                <a:latin typeface="Times New Roman"/>
                <a:cs typeface="Times New Roman"/>
              </a:rPr>
              <a:t>Key</a:t>
            </a:r>
            <a:r>
              <a:rPr lang="en-US" sz="2000" b="1" spc="-10" dirty="0">
                <a:latin typeface="Times New Roman"/>
                <a:cs typeface="Times New Roman"/>
              </a:rPr>
              <a:t> </a:t>
            </a:r>
            <a:r>
              <a:rPr lang="en-US" sz="2000" b="1" spc="25" dirty="0">
                <a:latin typeface="Times New Roman"/>
                <a:cs typeface="Times New Roman"/>
              </a:rPr>
              <a:t>Words </a:t>
            </a:r>
            <a:r>
              <a:rPr lang="en-US" sz="2000" spc="25" dirty="0">
                <a:latin typeface="Times New Roman"/>
                <a:cs typeface="Times New Roman"/>
              </a:rPr>
              <a:t>:Voice Control, Home Automation, Smart Door Lock, IOT, Wireless Control, Security System, Voice Recognition, Access Control, Smart Home, Microcontroller(ESP32).</a:t>
            </a:r>
            <a:endParaRPr lang="en-US" sz="2000" dirty="0">
              <a:latin typeface="Times New Roman"/>
              <a:cs typeface="Times New Roman"/>
            </a:endParaRPr>
          </a:p>
        </p:txBody>
      </p:sp>
    </p:spTree>
    <p:extLst>
      <p:ext uri="{BB962C8B-B14F-4D97-AF65-F5344CB8AC3E}">
        <p14:creationId xmlns:p14="http://schemas.microsoft.com/office/powerpoint/2010/main" val="1634275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2DF498A-4D50-09B6-5D59-06CED2E368D6}"/>
              </a:ext>
            </a:extLst>
          </p:cNvPr>
          <p:cNvSpPr txBox="1">
            <a:spLocks/>
          </p:cNvSpPr>
          <p:nvPr/>
        </p:nvSpPr>
        <p:spPr>
          <a:xfrm>
            <a:off x="287678" y="600710"/>
            <a:ext cx="3857625" cy="570669"/>
          </a:xfrm>
          <a:prstGeom prst="rect">
            <a:avLst/>
          </a:prstGeom>
        </p:spPr>
        <p:txBody>
          <a:bodyPr vert="horz" wrap="square" lIns="0" tIns="16510" rIns="0" bIns="0" rtlCol="0">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30"/>
              </a:spcBef>
            </a:pPr>
            <a:r>
              <a:rPr lang="en-IN" spc="25" dirty="0">
                <a:latin typeface="Times New Roman"/>
                <a:cs typeface="Times New Roman"/>
              </a:rPr>
              <a:t>I</a:t>
            </a:r>
            <a:r>
              <a:rPr lang="en-IN" dirty="0">
                <a:latin typeface="Times New Roman"/>
                <a:cs typeface="Times New Roman"/>
              </a:rPr>
              <a:t>N</a:t>
            </a:r>
            <a:r>
              <a:rPr lang="en-IN" spc="55" dirty="0">
                <a:latin typeface="Times New Roman"/>
                <a:cs typeface="Times New Roman"/>
              </a:rPr>
              <a:t>T</a:t>
            </a:r>
            <a:r>
              <a:rPr lang="en-IN" spc="-10" dirty="0">
                <a:latin typeface="Times New Roman"/>
                <a:cs typeface="Times New Roman"/>
              </a:rPr>
              <a:t>R</a:t>
            </a:r>
            <a:r>
              <a:rPr lang="en-IN" spc="70" dirty="0">
                <a:latin typeface="Times New Roman"/>
                <a:cs typeface="Times New Roman"/>
              </a:rPr>
              <a:t>O</a:t>
            </a:r>
            <a:r>
              <a:rPr lang="en-IN" dirty="0">
                <a:latin typeface="Times New Roman"/>
                <a:cs typeface="Times New Roman"/>
              </a:rPr>
              <a:t>D</a:t>
            </a:r>
            <a:r>
              <a:rPr lang="en-IN" spc="70" dirty="0">
                <a:latin typeface="Times New Roman"/>
                <a:cs typeface="Times New Roman"/>
              </a:rPr>
              <a:t>U</a:t>
            </a:r>
            <a:r>
              <a:rPr lang="en-IN" spc="-10" dirty="0">
                <a:latin typeface="Times New Roman"/>
                <a:cs typeface="Times New Roman"/>
              </a:rPr>
              <a:t>C</a:t>
            </a:r>
            <a:r>
              <a:rPr lang="en-IN" spc="55" dirty="0">
                <a:latin typeface="Times New Roman"/>
                <a:cs typeface="Times New Roman"/>
              </a:rPr>
              <a:t>T</a:t>
            </a:r>
            <a:r>
              <a:rPr lang="en-IN" spc="25" dirty="0">
                <a:latin typeface="Times New Roman"/>
                <a:cs typeface="Times New Roman"/>
              </a:rPr>
              <a:t>I</a:t>
            </a:r>
            <a:r>
              <a:rPr lang="en-IN" dirty="0">
                <a:latin typeface="Times New Roman"/>
                <a:cs typeface="Times New Roman"/>
              </a:rPr>
              <a:t>O</a:t>
            </a:r>
            <a:r>
              <a:rPr lang="en-IN" spc="20" dirty="0">
                <a:latin typeface="Times New Roman"/>
                <a:cs typeface="Times New Roman"/>
              </a:rPr>
              <a:t>N</a:t>
            </a:r>
            <a:endParaRPr lang="en-IN" dirty="0">
              <a:latin typeface="Times New Roman"/>
              <a:cs typeface="Times New Roman"/>
            </a:endParaRPr>
          </a:p>
        </p:txBody>
      </p:sp>
      <p:sp>
        <p:nvSpPr>
          <p:cNvPr id="3" name="object 3">
            <a:extLst>
              <a:ext uri="{FF2B5EF4-FFF2-40B4-BE49-F238E27FC236}">
                <a16:creationId xmlns:a16="http://schemas.microsoft.com/office/drawing/2014/main" id="{20D18908-CB6B-CC8C-BD5D-461975D8ED38}"/>
              </a:ext>
            </a:extLst>
          </p:cNvPr>
          <p:cNvSpPr txBox="1"/>
          <p:nvPr/>
        </p:nvSpPr>
        <p:spPr>
          <a:xfrm>
            <a:off x="288923" y="1403285"/>
            <a:ext cx="11903077" cy="5216300"/>
          </a:xfrm>
          <a:prstGeom prst="rect">
            <a:avLst/>
          </a:prstGeom>
        </p:spPr>
        <p:txBody>
          <a:bodyPr vert="horz" wrap="square" lIns="0" tIns="11430" rIns="0" bIns="0" rtlCol="0">
            <a:spAutoFit/>
          </a:bodyPr>
          <a:lstStyle/>
          <a:p>
            <a:pPr marL="12065" marR="9525">
              <a:lnSpc>
                <a:spcPct val="151600"/>
              </a:lnSpc>
              <a:spcBef>
                <a:spcPts val="90"/>
              </a:spcBef>
              <a:tabLst>
                <a:tab pos="355600" algn="l"/>
                <a:tab pos="356235" algn="l"/>
              </a:tabLst>
            </a:pPr>
            <a:r>
              <a:rPr lang="en-US" sz="2000" dirty="0">
                <a:latin typeface="Times New Roman" panose="02020603050405020304" pitchFamily="18" charset="0"/>
                <a:cs typeface="Times New Roman" panose="02020603050405020304" pitchFamily="18" charset="0"/>
              </a:rPr>
              <a:t>The rapid advancements in Internet of Things (IoT)technology have revolutionized various aspects of modern living, with smart home automation being one of the most prominent applications. Smart home systems provide home owners with the ability to remotely monitor and control household devices such as lighting, doors through smartphones, voice commands, or other connected devices. These systems enhance convenience, improve energy efficiency, and strengthen security, making them an integral part of sustainable and intelligent living solutions. This approach not only reduces manual effort but also enables energy optimization by ensuring appliances operate only when required. For instance, sensors can monitor temperature, humidity, or motion to adjust lighting, heating,or cooling systems automatically, leading to significant energy savings and improved environmental impact. Features like RFID-based access control, motion detection, and real-time notifications allow users to monitor their homes remotely and respond to potential threats effectively.</a:t>
            </a:r>
          </a:p>
          <a:p>
            <a:pPr marL="354965" marR="9525" indent="-342900">
              <a:lnSpc>
                <a:spcPct val="151600"/>
              </a:lnSpc>
              <a:spcBef>
                <a:spcPts val="90"/>
              </a:spcBef>
              <a:buFont typeface="Arial" panose="020B0604020202020204" pitchFamily="34" charset="0"/>
              <a:buChar char="•"/>
              <a:tabLst>
                <a:tab pos="355600" algn="l"/>
                <a:tab pos="356235" algn="l"/>
              </a:tabLst>
            </a:pP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673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05F450B-F9BB-24B6-2EEB-82CFA86A9EB3}"/>
              </a:ext>
            </a:extLst>
          </p:cNvPr>
          <p:cNvSpPr txBox="1">
            <a:spLocks/>
          </p:cNvSpPr>
          <p:nvPr/>
        </p:nvSpPr>
        <p:spPr>
          <a:xfrm>
            <a:off x="267715" y="603885"/>
            <a:ext cx="3142615" cy="570669"/>
          </a:xfrm>
          <a:prstGeom prst="rect">
            <a:avLst/>
          </a:prstGeom>
        </p:spPr>
        <p:txBody>
          <a:bodyPr vert="horz" wrap="square" lIns="0" tIns="16510" rIns="0" bIns="0" rtlCol="0">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30"/>
              </a:spcBef>
            </a:pPr>
            <a:r>
              <a:rPr lang="en-IN" spc="-75" dirty="0">
                <a:latin typeface="Times New Roman"/>
                <a:cs typeface="Times New Roman"/>
              </a:rPr>
              <a:t>MOTIVATION</a:t>
            </a:r>
            <a:endParaRPr lang="en-IN" dirty="0">
              <a:latin typeface="Times New Roman"/>
              <a:cs typeface="Times New Roman"/>
            </a:endParaRPr>
          </a:p>
        </p:txBody>
      </p:sp>
      <p:sp>
        <p:nvSpPr>
          <p:cNvPr id="3" name="object 3">
            <a:extLst>
              <a:ext uri="{FF2B5EF4-FFF2-40B4-BE49-F238E27FC236}">
                <a16:creationId xmlns:a16="http://schemas.microsoft.com/office/drawing/2014/main" id="{D35A28D2-2F6C-404E-F463-9DE05B30AE34}"/>
              </a:ext>
            </a:extLst>
          </p:cNvPr>
          <p:cNvSpPr txBox="1"/>
          <p:nvPr/>
        </p:nvSpPr>
        <p:spPr>
          <a:xfrm>
            <a:off x="267715" y="1551513"/>
            <a:ext cx="10573110" cy="4193456"/>
          </a:xfrm>
          <a:prstGeom prst="rect">
            <a:avLst/>
          </a:prstGeom>
        </p:spPr>
        <p:txBody>
          <a:bodyPr vert="horz" wrap="square" lIns="0" tIns="241300" rIns="0" bIns="0" rtlCol="0">
            <a:spAutoFit/>
          </a:bodyPr>
          <a:lstStyle/>
          <a:p>
            <a:pPr marL="354966" indent="-342900">
              <a:lnSpc>
                <a:spcPct val="100000"/>
              </a:lnSpc>
              <a:spcBef>
                <a:spcPts val="1730"/>
              </a:spcBef>
              <a:buFont typeface="Arial" panose="020B0604020202020204" pitchFamily="34" charset="0"/>
              <a:buChar char="•"/>
              <a:tabLst>
                <a:tab pos="469900" algn="l"/>
                <a:tab pos="470534" algn="l"/>
              </a:tabLst>
            </a:pPr>
            <a:r>
              <a:rPr lang="en-US" sz="2000" dirty="0">
                <a:latin typeface="Times New Roman"/>
                <a:cs typeface="Times New Roman"/>
              </a:rPr>
              <a:t>Time-Saving: The increasing demand for automated home  systems motivates the need for a solution that reduces manual effort in controlling household devices.</a:t>
            </a:r>
          </a:p>
          <a:p>
            <a:pPr marL="354966" indent="-342900">
              <a:lnSpc>
                <a:spcPct val="100000"/>
              </a:lnSpc>
              <a:spcBef>
                <a:spcPts val="1730"/>
              </a:spcBef>
              <a:buFont typeface="Arial" panose="020B0604020202020204" pitchFamily="34" charset="0"/>
              <a:buChar char="•"/>
              <a:tabLst>
                <a:tab pos="469900" algn="l"/>
                <a:tab pos="470534" algn="l"/>
              </a:tabLst>
            </a:pPr>
            <a:r>
              <a:rPr lang="en-US" sz="2000" dirty="0">
                <a:latin typeface="Times New Roman"/>
                <a:cs typeface="Times New Roman"/>
              </a:rPr>
              <a:t> Convenience: Voice-controlled and app-based smart automation offers a hands-free experience, catering to users who seek modern and convenient smart home solutions. </a:t>
            </a:r>
          </a:p>
          <a:p>
            <a:pPr marL="354966" indent="-342900">
              <a:lnSpc>
                <a:spcPct val="100000"/>
              </a:lnSpc>
              <a:spcBef>
                <a:spcPts val="1730"/>
              </a:spcBef>
              <a:buFont typeface="Arial" panose="020B0604020202020204" pitchFamily="34" charset="0"/>
              <a:buChar char="•"/>
              <a:tabLst>
                <a:tab pos="469900" algn="l"/>
                <a:tab pos="470534" algn="l"/>
              </a:tabLst>
            </a:pPr>
            <a:r>
              <a:rPr lang="en-US" sz="2000" dirty="0">
                <a:latin typeface="Times New Roman"/>
                <a:cs typeface="Times New Roman"/>
              </a:rPr>
              <a:t>Security Enhancement: Growing concerns about home safety encourage the development of smart locking mechanisms using RFID technology to prevent unauthorized access.</a:t>
            </a:r>
          </a:p>
          <a:p>
            <a:pPr marL="354966" indent="-342900">
              <a:lnSpc>
                <a:spcPct val="100000"/>
              </a:lnSpc>
              <a:spcBef>
                <a:spcPts val="1730"/>
              </a:spcBef>
              <a:buFont typeface="Arial" panose="020B0604020202020204" pitchFamily="34" charset="0"/>
              <a:buChar char="•"/>
              <a:tabLst>
                <a:tab pos="469900" algn="l"/>
                <a:tab pos="470534" algn="l"/>
              </a:tabLst>
            </a:pPr>
            <a:r>
              <a:rPr lang="en-US" sz="2000" dirty="0">
                <a:latin typeface="Times New Roman"/>
                <a:cs typeface="Times New Roman"/>
              </a:rPr>
              <a:t> Technological Advancement: The rapid evolution of IoT, wireless connectivity, and embedded systems provides an opportunity to design intelligent systems that improve everyday living.</a:t>
            </a:r>
          </a:p>
          <a:p>
            <a:pPr marL="354966" indent="-342900">
              <a:lnSpc>
                <a:spcPct val="100000"/>
              </a:lnSpc>
              <a:spcBef>
                <a:spcPts val="1730"/>
              </a:spcBef>
              <a:buFont typeface="Arial" panose="020B0604020202020204" pitchFamily="34" charset="0"/>
              <a:buChar char="•"/>
              <a:tabLst>
                <a:tab pos="469900" algn="l"/>
                <a:tab pos="470534" algn="l"/>
              </a:tabLst>
            </a:pPr>
            <a:r>
              <a:rPr lang="en-US" sz="2000" dirty="0">
                <a:latin typeface="Times New Roman"/>
                <a:cs typeface="Times New Roman"/>
              </a:rPr>
              <a:t> Accessibility: Voice-operated systems provide greater accessibility for individuals with mobility challenges, helping them control home appliances independently.</a:t>
            </a:r>
            <a:endParaRPr sz="2000" dirty="0">
              <a:latin typeface="Times New Roman"/>
              <a:cs typeface="Times New Roman"/>
            </a:endParaRPr>
          </a:p>
        </p:txBody>
      </p:sp>
    </p:spTree>
    <p:extLst>
      <p:ext uri="{BB962C8B-B14F-4D97-AF65-F5344CB8AC3E}">
        <p14:creationId xmlns:p14="http://schemas.microsoft.com/office/powerpoint/2010/main" val="2819496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07402AF-60B6-D573-4D1B-BC662520B484}"/>
              </a:ext>
            </a:extLst>
          </p:cNvPr>
          <p:cNvSpPr txBox="1">
            <a:spLocks/>
          </p:cNvSpPr>
          <p:nvPr/>
        </p:nvSpPr>
        <p:spPr>
          <a:xfrm>
            <a:off x="313055" y="591185"/>
            <a:ext cx="5485130" cy="570669"/>
          </a:xfrm>
          <a:prstGeom prst="rect">
            <a:avLst/>
          </a:prstGeom>
        </p:spPr>
        <p:txBody>
          <a:bodyPr vert="horz" wrap="square" lIns="0" tIns="16510" rIns="0" bIns="0" rtlCol="0">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30"/>
              </a:spcBef>
            </a:pPr>
            <a:r>
              <a:rPr lang="en-IN" spc="25" dirty="0">
                <a:latin typeface="Times New Roman"/>
                <a:cs typeface="Times New Roman"/>
              </a:rPr>
              <a:t>PROBLEM</a:t>
            </a:r>
            <a:r>
              <a:rPr lang="en-IN" spc="105" dirty="0">
                <a:latin typeface="Times New Roman"/>
                <a:cs typeface="Times New Roman"/>
              </a:rPr>
              <a:t> </a:t>
            </a:r>
            <a:r>
              <a:rPr lang="en-IN" spc="-60" dirty="0">
                <a:latin typeface="Times New Roman"/>
                <a:cs typeface="Times New Roman"/>
              </a:rPr>
              <a:t>STATEMENT</a:t>
            </a:r>
          </a:p>
        </p:txBody>
      </p:sp>
      <p:sp>
        <p:nvSpPr>
          <p:cNvPr id="3" name="object 3">
            <a:extLst>
              <a:ext uri="{FF2B5EF4-FFF2-40B4-BE49-F238E27FC236}">
                <a16:creationId xmlns:a16="http://schemas.microsoft.com/office/drawing/2014/main" id="{89779799-4E65-BF28-7BE8-2F96F1DAF840}"/>
              </a:ext>
            </a:extLst>
          </p:cNvPr>
          <p:cNvSpPr txBox="1"/>
          <p:nvPr/>
        </p:nvSpPr>
        <p:spPr>
          <a:xfrm>
            <a:off x="326771" y="1350454"/>
            <a:ext cx="11549544" cy="4245842"/>
          </a:xfrm>
          <a:prstGeom prst="rect">
            <a:avLst/>
          </a:prstGeom>
        </p:spPr>
        <p:txBody>
          <a:bodyPr vert="horz" wrap="square" lIns="0" tIns="11430" rIns="0" bIns="0" rtlCol="0">
            <a:spAutoFit/>
          </a:bodyPr>
          <a:lstStyle/>
          <a:p>
            <a:pPr marL="12066" marR="5080">
              <a:lnSpc>
                <a:spcPct val="154800"/>
              </a:lnSpc>
              <a:spcBef>
                <a:spcPts val="90"/>
              </a:spcBef>
              <a:tabLst>
                <a:tab pos="469900" algn="l"/>
                <a:tab pos="470534" algn="l"/>
              </a:tabLst>
            </a:pPr>
            <a:r>
              <a:rPr lang="en-US" sz="2000" dirty="0">
                <a:latin typeface="Times New Roman" panose="02020603050405020304" pitchFamily="18" charset="0"/>
                <a:cs typeface="Times New Roman" panose="02020603050405020304" pitchFamily="18" charset="0"/>
              </a:rPr>
              <a:t>In modern households, the lack of an integrated, affordable, and intelligent automation system creates challenges in ensuring security, convenience, and energy efficiency. Traditional home appliances require manual operation, which can be difficult for elderly individuals or people with mobility limitations. Similarly, conventional door lock systems relying on physical keys pose risks such as loss, duplication, and unauthorized access. Existing automation solutions often lack real-time monitoring, environmental sensing, and seamless voice-based control. Therefore, there is a need for a smart home system that combines IoT technology, sensor based automation, secure RFID door access, and voice command functionality to provide users with a safe, accessible, and energy-efficient living environment. This project addresses these challenges by developing an ESP32-based home automation system capable of remote monitoring, intelligent control, and enhanced security.</a:t>
            </a:r>
          </a:p>
        </p:txBody>
      </p:sp>
    </p:spTree>
    <p:extLst>
      <p:ext uri="{BB962C8B-B14F-4D97-AF65-F5344CB8AC3E}">
        <p14:creationId xmlns:p14="http://schemas.microsoft.com/office/powerpoint/2010/main" val="2871307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 name="object 7">
            <a:extLst>
              <a:ext uri="{FF2B5EF4-FFF2-40B4-BE49-F238E27FC236}">
                <a16:creationId xmlns:a16="http://schemas.microsoft.com/office/drawing/2014/main" id="{083CB2F1-3FD8-7FAC-0636-EB83A74D4300}"/>
              </a:ext>
            </a:extLst>
          </p:cNvPr>
          <p:cNvGraphicFramePr>
            <a:graphicFrameLocks noGrp="1"/>
          </p:cNvGraphicFramePr>
          <p:nvPr>
            <p:extLst>
              <p:ext uri="{D42A27DB-BD31-4B8C-83A1-F6EECF244321}">
                <p14:modId xmlns:p14="http://schemas.microsoft.com/office/powerpoint/2010/main" val="1799879350"/>
              </p:ext>
            </p:extLst>
          </p:nvPr>
        </p:nvGraphicFramePr>
        <p:xfrm>
          <a:off x="0" y="1317172"/>
          <a:ext cx="12191998" cy="5540827"/>
        </p:xfrm>
        <a:graphic>
          <a:graphicData uri="http://schemas.openxmlformats.org/drawingml/2006/table">
            <a:tbl>
              <a:tblPr firstRow="1" bandRow="1">
                <a:tableStyleId>{2D5ABB26-0587-4C30-8999-92F81FD0307C}</a:tableStyleId>
              </a:tblPr>
              <a:tblGrid>
                <a:gridCol w="2558448">
                  <a:extLst>
                    <a:ext uri="{9D8B030D-6E8A-4147-A177-3AD203B41FA5}">
                      <a16:colId xmlns:a16="http://schemas.microsoft.com/office/drawing/2014/main" val="20000"/>
                    </a:ext>
                  </a:extLst>
                </a:gridCol>
                <a:gridCol w="2587311">
                  <a:extLst>
                    <a:ext uri="{9D8B030D-6E8A-4147-A177-3AD203B41FA5}">
                      <a16:colId xmlns:a16="http://schemas.microsoft.com/office/drawing/2014/main" val="20001"/>
                    </a:ext>
                  </a:extLst>
                </a:gridCol>
                <a:gridCol w="1971767">
                  <a:extLst>
                    <a:ext uri="{9D8B030D-6E8A-4147-A177-3AD203B41FA5}">
                      <a16:colId xmlns:a16="http://schemas.microsoft.com/office/drawing/2014/main" val="20002"/>
                    </a:ext>
                  </a:extLst>
                </a:gridCol>
                <a:gridCol w="5074472">
                  <a:extLst>
                    <a:ext uri="{9D8B030D-6E8A-4147-A177-3AD203B41FA5}">
                      <a16:colId xmlns:a16="http://schemas.microsoft.com/office/drawing/2014/main" val="20003"/>
                    </a:ext>
                  </a:extLst>
                </a:gridCol>
              </a:tblGrid>
              <a:tr h="1522141">
                <a:tc>
                  <a:txBody>
                    <a:bodyPr/>
                    <a:lstStyle/>
                    <a:p>
                      <a:pPr marL="133350">
                        <a:lnSpc>
                          <a:spcPct val="100000"/>
                        </a:lnSpc>
                        <a:spcBef>
                          <a:spcPts val="325"/>
                        </a:spcBef>
                      </a:pPr>
                      <a:r>
                        <a:rPr sz="2750" b="1" spc="5" dirty="0">
                          <a:latin typeface="Times New Roman" panose="02020603050405020304" pitchFamily="18" charset="0"/>
                          <a:cs typeface="Times New Roman" panose="02020603050405020304" pitchFamily="18" charset="0"/>
                        </a:rPr>
                        <a:t>Title</a:t>
                      </a:r>
                      <a:r>
                        <a:rPr sz="2750" b="1" spc="-15" dirty="0">
                          <a:latin typeface="Times New Roman" panose="02020603050405020304" pitchFamily="18" charset="0"/>
                          <a:cs typeface="Times New Roman" panose="02020603050405020304" pitchFamily="18" charset="0"/>
                        </a:rPr>
                        <a:t> </a:t>
                      </a:r>
                      <a:r>
                        <a:rPr sz="2750" b="1" spc="25" dirty="0">
                          <a:latin typeface="Times New Roman" panose="02020603050405020304" pitchFamily="18" charset="0"/>
                          <a:cs typeface="Times New Roman" panose="02020603050405020304" pitchFamily="18" charset="0"/>
                        </a:rPr>
                        <a:t>of</a:t>
                      </a:r>
                      <a:r>
                        <a:rPr sz="2750" b="1" dirty="0">
                          <a:latin typeface="Times New Roman" panose="02020603050405020304" pitchFamily="18" charset="0"/>
                          <a:cs typeface="Times New Roman" panose="02020603050405020304" pitchFamily="18" charset="0"/>
                        </a:rPr>
                        <a:t> </a:t>
                      </a:r>
                      <a:r>
                        <a:rPr sz="2750" b="1" spc="5" dirty="0">
                          <a:latin typeface="Times New Roman" panose="02020603050405020304" pitchFamily="18" charset="0"/>
                          <a:cs typeface="Times New Roman" panose="02020603050405020304" pitchFamily="18" charset="0"/>
                        </a:rPr>
                        <a:t>Paper</a:t>
                      </a:r>
                      <a:endParaRPr sz="2750"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chemeClr val="accent6">
                        <a:lumMod val="40000"/>
                        <a:lumOff val="60000"/>
                      </a:schemeClr>
                    </a:solidFill>
                  </a:tcPr>
                </a:tc>
                <a:tc>
                  <a:txBody>
                    <a:bodyPr/>
                    <a:lstStyle/>
                    <a:p>
                      <a:pPr marL="281940">
                        <a:lnSpc>
                          <a:spcPct val="100000"/>
                        </a:lnSpc>
                        <a:spcBef>
                          <a:spcPts val="325"/>
                        </a:spcBef>
                      </a:pPr>
                      <a:r>
                        <a:rPr sz="2750" b="1" spc="20" dirty="0">
                          <a:latin typeface="Times New Roman" panose="02020603050405020304" pitchFamily="18" charset="0"/>
                          <a:cs typeface="Times New Roman" panose="02020603050405020304" pitchFamily="18" charset="0"/>
                        </a:rPr>
                        <a:t>Author(s)</a:t>
                      </a:r>
                      <a:endParaRPr sz="2750"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11430" algn="ctr">
                        <a:lnSpc>
                          <a:spcPct val="100000"/>
                        </a:lnSpc>
                        <a:spcBef>
                          <a:spcPts val="325"/>
                        </a:spcBef>
                      </a:pPr>
                      <a:r>
                        <a:rPr sz="2750" b="1" spc="-60" dirty="0">
                          <a:latin typeface="Times New Roman" panose="02020603050405020304" pitchFamily="18" charset="0"/>
                          <a:cs typeface="Times New Roman" panose="02020603050405020304" pitchFamily="18" charset="0"/>
                        </a:rPr>
                        <a:t>Year</a:t>
                      </a:r>
                      <a:r>
                        <a:rPr sz="2750" b="1" spc="-70" dirty="0">
                          <a:latin typeface="Times New Roman" panose="02020603050405020304" pitchFamily="18" charset="0"/>
                          <a:cs typeface="Times New Roman" panose="02020603050405020304" pitchFamily="18" charset="0"/>
                        </a:rPr>
                        <a:t> </a:t>
                      </a:r>
                      <a:endParaRPr sz="2750"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807720">
                        <a:lnSpc>
                          <a:spcPct val="100000"/>
                        </a:lnSpc>
                        <a:spcBef>
                          <a:spcPts val="325"/>
                        </a:spcBef>
                      </a:pPr>
                      <a:r>
                        <a:rPr lang="en-IN" sz="2750" b="1" spc="30" dirty="0">
                          <a:latin typeface="Times New Roman" panose="02020603050405020304" pitchFamily="18" charset="0"/>
                          <a:cs typeface="Times New Roman" panose="02020603050405020304" pitchFamily="18" charset="0"/>
                        </a:rPr>
                        <a:t>Inference</a:t>
                      </a:r>
                      <a:endParaRPr sz="2750"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2103833">
                <a:tc>
                  <a:txBody>
                    <a:bodyPr/>
                    <a:lstStyle/>
                    <a:p>
                      <a:pPr marL="92075" marR="214629" lvl="0" indent="0" algn="l" defTabSz="914400" rtl="0" eaLnBrk="1" fontAlgn="auto" latinLnBrk="0" hangingPunct="1">
                        <a:lnSpc>
                          <a:spcPct val="100800"/>
                        </a:lnSpc>
                        <a:spcBef>
                          <a:spcPts val="295"/>
                        </a:spcBef>
                        <a:spcAft>
                          <a:spcPts val="0"/>
                        </a:spcAft>
                        <a:buClrTx/>
                        <a:buSzTx/>
                        <a:buFontTx/>
                        <a:buNone/>
                        <a:tabLst/>
                        <a:defRPr/>
                      </a:pPr>
                      <a:r>
                        <a:rPr lang="en-US" sz="2000" kern="1200" dirty="0">
                          <a:solidFill>
                            <a:schemeClr val="tx1"/>
                          </a:solidFill>
                          <a:effectLst/>
                          <a:latin typeface="Times New Roman" panose="02020603050405020304" pitchFamily="18" charset="0"/>
                          <a:ea typeface="+mn-ea"/>
                          <a:cs typeface="Times New Roman" panose="02020603050405020304" pitchFamily="18" charset="0"/>
                        </a:rPr>
                        <a:t>Domicile - An IoT Based Smart Home Automation System</a:t>
                      </a:r>
                      <a:endParaRPr lang="en-US" sz="2000" dirty="0">
                        <a:latin typeface="Times New Roman" panose="02020603050405020304" pitchFamily="18" charset="0"/>
                        <a:cs typeface="Times New Roman" panose="02020603050405020304" pitchFamily="18" charset="0"/>
                      </a:endParaRPr>
                    </a:p>
                    <a:p>
                      <a:pPr marL="92075" marR="214629">
                        <a:lnSpc>
                          <a:spcPct val="100800"/>
                        </a:lnSpc>
                        <a:spcBef>
                          <a:spcPts val="295"/>
                        </a:spcBef>
                      </a:pPr>
                      <a:endParaRPr sz="2000" dirty="0">
                        <a:latin typeface="Times New Roman" panose="02020603050405020304" pitchFamily="18" charset="0"/>
                        <a:cs typeface="Times New Roman" panose="02020603050405020304" pitchFamily="18" charset="0"/>
                      </a:endParaRPr>
                    </a:p>
                  </a:txBody>
                  <a:tcPr marL="0" marR="0" marT="37465"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3980">
                        <a:lnSpc>
                          <a:spcPct val="100000"/>
                        </a:lnSpc>
                        <a:spcBef>
                          <a:spcPts val="340"/>
                        </a:spcBef>
                      </a:pPr>
                      <a:r>
                        <a:rPr lang="en-US" sz="2000" kern="1200" dirty="0">
                          <a:solidFill>
                            <a:schemeClr val="tx1"/>
                          </a:solidFill>
                          <a:effectLst/>
                          <a:latin typeface="Times New Roman" panose="02020603050405020304" pitchFamily="18" charset="0"/>
                          <a:ea typeface="+mn-ea"/>
                          <a:cs typeface="Times New Roman" panose="02020603050405020304" pitchFamily="18" charset="0"/>
                        </a:rPr>
                        <a:t>H. Patel, D. Gupta, &amp; R. Singh</a:t>
                      </a:r>
                      <a:endParaRPr sz="2000" dirty="0">
                        <a:latin typeface="Times New Roman" panose="02020603050405020304" pitchFamily="18" charset="0"/>
                        <a:cs typeface="Times New Roman" panose="02020603050405020304" pitchFamily="18" charset="0"/>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5885" marR="233045" algn="ctr">
                        <a:lnSpc>
                          <a:spcPct val="100800"/>
                        </a:lnSpc>
                        <a:spcBef>
                          <a:spcPts val="320"/>
                        </a:spcBef>
                      </a:pPr>
                      <a:r>
                        <a:rPr lang="en-US" sz="2000" dirty="0">
                          <a:latin typeface="Times New Roman" panose="02020603050405020304" pitchFamily="18" charset="0"/>
                          <a:cs typeface="Times New Roman" panose="02020603050405020304" pitchFamily="18" charset="0"/>
                        </a:rPr>
                        <a:t>   2021</a:t>
                      </a:r>
                      <a:endParaRPr sz="2000" dirty="0">
                        <a:latin typeface="Times New Roman" panose="02020603050405020304" pitchFamily="18" charset="0"/>
                        <a:cs typeface="Times New Roman" panose="02020603050405020304" pitchFamily="18" charset="0"/>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8425" algn="l">
                        <a:lnSpc>
                          <a:spcPct val="100000"/>
                        </a:lnSpc>
                        <a:spcBef>
                          <a:spcPts val="439"/>
                        </a:spcBef>
                      </a:pPr>
                      <a:r>
                        <a:rPr lang="en-US" sz="1900" kern="1200" dirty="0">
                          <a:solidFill>
                            <a:schemeClr val="tx1"/>
                          </a:solidFill>
                          <a:effectLst/>
                          <a:latin typeface="Times New Roman" panose="02020603050405020304" pitchFamily="18" charset="0"/>
                          <a:ea typeface="+mn-ea"/>
                          <a:cs typeface="Times New Roman" panose="02020603050405020304" pitchFamily="18" charset="0"/>
                        </a:rPr>
                        <a:t>It focuses on providing efficient remote monitoring and control of household appliances through wireless communication technologies. </a:t>
                      </a:r>
                    </a:p>
                  </a:txBody>
                  <a:tcPr marL="0" marR="0" marT="55879"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1914853">
                <a:tc>
                  <a:txBody>
                    <a:bodyPr/>
                    <a:lstStyle/>
                    <a:p>
                      <a:pPr marL="92075" algn="l">
                        <a:lnSpc>
                          <a:spcPct val="100000"/>
                        </a:lnSpc>
                        <a:spcBef>
                          <a:spcPts val="325"/>
                        </a:spcBef>
                      </a:pPr>
                      <a:r>
                        <a:rPr lang="en-US" sz="2000" b="0" kern="1200" dirty="0">
                          <a:solidFill>
                            <a:schemeClr val="tx1"/>
                          </a:solidFill>
                          <a:effectLst/>
                          <a:latin typeface="Times New Roman" panose="02020603050405020304" pitchFamily="18" charset="0"/>
                          <a:ea typeface="+mn-ea"/>
                          <a:cs typeface="Times New Roman" panose="02020603050405020304" pitchFamily="18" charset="0"/>
                        </a:rPr>
                        <a:t>Smart Home Automation System with Status Feedback Based on ESP32 and IoT</a:t>
                      </a:r>
                      <a:endParaRPr sz="2000" b="0"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chemeClr val="accent6">
                        <a:lumMod val="40000"/>
                        <a:lumOff val="60000"/>
                      </a:schemeClr>
                    </a:solidFill>
                  </a:tcPr>
                </a:tc>
                <a:tc>
                  <a:txBody>
                    <a:bodyPr/>
                    <a:lstStyle/>
                    <a:p>
                      <a:pPr marL="93980" marR="911860" algn="just">
                        <a:lnSpc>
                          <a:spcPct val="100800"/>
                        </a:lnSpc>
                        <a:spcBef>
                          <a:spcPts val="305"/>
                        </a:spcBef>
                      </a:pPr>
                      <a:r>
                        <a:rPr lang="en-US" sz="2000" b="0" kern="1200" dirty="0">
                          <a:solidFill>
                            <a:schemeClr val="tx1"/>
                          </a:solidFill>
                          <a:effectLst/>
                          <a:latin typeface="Times New Roman" panose="02020603050405020304" pitchFamily="18" charset="0"/>
                          <a:ea typeface="+mn-ea"/>
                          <a:cs typeface="Times New Roman" panose="02020603050405020304" pitchFamily="18" charset="0"/>
                        </a:rPr>
                        <a:t>Jampana, J. G, Praneeth, A. J, Devi, J. H, &amp; Rani, P</a:t>
                      </a:r>
                      <a:endParaRPr sz="2000" b="0" dirty="0">
                        <a:latin typeface="Times New Roman" panose="02020603050405020304" pitchFamily="18" charset="0"/>
                        <a:cs typeface="Times New Roman" panose="02020603050405020304" pitchFamily="18" charset="0"/>
                      </a:endParaRPr>
                    </a:p>
                  </a:txBody>
                  <a:tcPr marL="0" marR="0" marT="3873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5885" marR="139700" algn="ctr">
                        <a:lnSpc>
                          <a:spcPct val="100800"/>
                        </a:lnSpc>
                        <a:spcBef>
                          <a:spcPts val="305"/>
                        </a:spcBef>
                      </a:pPr>
                      <a:r>
                        <a:rPr lang="en-US" sz="2000" dirty="0">
                          <a:latin typeface="Times New Roman" panose="02020603050405020304" pitchFamily="18" charset="0"/>
                          <a:cs typeface="Times New Roman" panose="02020603050405020304" pitchFamily="18" charset="0"/>
                        </a:rPr>
                        <a:t>2022 </a:t>
                      </a:r>
                      <a:endParaRPr sz="2000" dirty="0">
                        <a:latin typeface="Times New Roman" panose="02020603050405020304" pitchFamily="18" charset="0"/>
                        <a:cs typeface="Times New Roman" panose="02020603050405020304" pitchFamily="18" charset="0"/>
                      </a:endParaRPr>
                    </a:p>
                  </a:txBody>
                  <a:tcPr marL="0" marR="0" marT="3873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8425" marR="82550">
                        <a:lnSpc>
                          <a:spcPct val="102299"/>
                        </a:lnSpc>
                        <a:spcBef>
                          <a:spcPts val="380"/>
                        </a:spcBef>
                      </a:pPr>
                      <a:r>
                        <a:rPr lang="en-US" sz="1900" kern="1200" dirty="0">
                          <a:solidFill>
                            <a:schemeClr val="tx1"/>
                          </a:solidFill>
                          <a:effectLst/>
                          <a:latin typeface="Times New Roman" panose="02020603050405020304" pitchFamily="18" charset="0"/>
                          <a:ea typeface="+mn-ea"/>
                          <a:cs typeface="Times New Roman" panose="02020603050405020304" pitchFamily="18" charset="0"/>
                        </a:rPr>
                        <a:t>The</a:t>
                      </a:r>
                      <a:r>
                        <a:rPr lang="en-US" sz="19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900" kern="1200" dirty="0">
                          <a:solidFill>
                            <a:schemeClr val="tx1"/>
                          </a:solidFill>
                          <a:effectLst/>
                          <a:latin typeface="Times New Roman" panose="02020603050405020304" pitchFamily="18" charset="0"/>
                          <a:ea typeface="+mn-ea"/>
                          <a:cs typeface="Times New Roman" panose="02020603050405020304" pitchFamily="18" charset="0"/>
                        </a:rPr>
                        <a:t>work utilizes the ESP32 microcontroller for its builtin Wi-Fi capabilities, enabling seamless communication</a:t>
                      </a:r>
                      <a:r>
                        <a:rPr lang="en-US" sz="19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900" kern="1200" dirty="0">
                          <a:solidFill>
                            <a:schemeClr val="tx1"/>
                          </a:solidFill>
                          <a:effectLst/>
                          <a:latin typeface="Times New Roman" panose="02020603050405020304" pitchFamily="18" charset="0"/>
                          <a:ea typeface="+mn-ea"/>
                          <a:cs typeface="Times New Roman" panose="02020603050405020304" pitchFamily="18" charset="0"/>
                        </a:rPr>
                        <a:t>between sensors, appliances, and a cloud-connected user interface. </a:t>
                      </a:r>
                      <a:endParaRPr sz="1900" dirty="0">
                        <a:latin typeface="Times New Roman" panose="02020603050405020304" pitchFamily="18" charset="0"/>
                        <a:cs typeface="Times New Roman" panose="02020603050405020304" pitchFamily="18" charset="0"/>
                      </a:endParaRPr>
                    </a:p>
                  </a:txBody>
                  <a:tcPr marL="0" marR="0" marT="4826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bl>
          </a:graphicData>
        </a:graphic>
      </p:graphicFrame>
      <p:sp>
        <p:nvSpPr>
          <p:cNvPr id="8" name="object 8">
            <a:extLst>
              <a:ext uri="{FF2B5EF4-FFF2-40B4-BE49-F238E27FC236}">
                <a16:creationId xmlns:a16="http://schemas.microsoft.com/office/drawing/2014/main" id="{5B12F079-4992-513E-C622-427DE6651E9C}"/>
              </a:ext>
            </a:extLst>
          </p:cNvPr>
          <p:cNvSpPr txBox="1">
            <a:spLocks/>
          </p:cNvSpPr>
          <p:nvPr/>
        </p:nvSpPr>
        <p:spPr>
          <a:xfrm>
            <a:off x="272414" y="320928"/>
            <a:ext cx="5211445" cy="632460"/>
          </a:xfrm>
          <a:prstGeom prst="rect">
            <a:avLst/>
          </a:prstGeom>
        </p:spPr>
        <p:txBody>
          <a:bodyPr vert="horz" wrap="square" lIns="0" tIns="16510" rIns="0" bIns="0" rtlCol="0">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30"/>
              </a:spcBef>
            </a:pPr>
            <a:r>
              <a:rPr lang="en-IN" sz="3200" spc="-20" dirty="0">
                <a:latin typeface="Times New Roman"/>
                <a:cs typeface="Times New Roman"/>
              </a:rPr>
              <a:t>LITERATURE</a:t>
            </a:r>
            <a:r>
              <a:rPr lang="en-IN" sz="3950" spc="-25" dirty="0">
                <a:latin typeface="Times New Roman"/>
                <a:cs typeface="Times New Roman"/>
              </a:rPr>
              <a:t> </a:t>
            </a:r>
            <a:r>
              <a:rPr lang="en-IN" spc="-35" dirty="0">
                <a:latin typeface="Times New Roman"/>
                <a:cs typeface="Times New Roman"/>
              </a:rPr>
              <a:t>SURVEY</a:t>
            </a:r>
            <a:endParaRPr lang="en-IN" dirty="0">
              <a:latin typeface="Times New Roman"/>
              <a:cs typeface="Times New Roman"/>
            </a:endParaRPr>
          </a:p>
        </p:txBody>
      </p:sp>
    </p:spTree>
    <p:extLst>
      <p:ext uri="{BB962C8B-B14F-4D97-AF65-F5344CB8AC3E}">
        <p14:creationId xmlns:p14="http://schemas.microsoft.com/office/powerpoint/2010/main" val="2768374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88" name="object 7">
            <a:extLst>
              <a:ext uri="{FF2B5EF4-FFF2-40B4-BE49-F238E27FC236}">
                <a16:creationId xmlns:a16="http://schemas.microsoft.com/office/drawing/2014/main" id="{43C2DB07-4312-601F-7ED3-0C4EBB0B2ABE}"/>
              </a:ext>
            </a:extLst>
          </p:cNvPr>
          <p:cNvGraphicFramePr>
            <a:graphicFrameLocks noGrp="1"/>
          </p:cNvGraphicFramePr>
          <p:nvPr>
            <p:extLst>
              <p:ext uri="{D42A27DB-BD31-4B8C-83A1-F6EECF244321}">
                <p14:modId xmlns:p14="http://schemas.microsoft.com/office/powerpoint/2010/main" val="864397607"/>
              </p:ext>
            </p:extLst>
          </p:nvPr>
        </p:nvGraphicFramePr>
        <p:xfrm>
          <a:off x="-19664" y="-49160"/>
          <a:ext cx="12192001" cy="6858000"/>
        </p:xfrm>
        <a:graphic>
          <a:graphicData uri="http://schemas.openxmlformats.org/drawingml/2006/table">
            <a:tbl>
              <a:tblPr firstRow="1" bandRow="1">
                <a:tableStyleId>{2D5ABB26-0587-4C30-8999-92F81FD0307C}</a:tableStyleId>
              </a:tblPr>
              <a:tblGrid>
                <a:gridCol w="2702346">
                  <a:extLst>
                    <a:ext uri="{9D8B030D-6E8A-4147-A177-3AD203B41FA5}">
                      <a16:colId xmlns:a16="http://schemas.microsoft.com/office/drawing/2014/main" val="20000"/>
                    </a:ext>
                  </a:extLst>
                </a:gridCol>
                <a:gridCol w="2548665">
                  <a:extLst>
                    <a:ext uri="{9D8B030D-6E8A-4147-A177-3AD203B41FA5}">
                      <a16:colId xmlns:a16="http://schemas.microsoft.com/office/drawing/2014/main" val="20001"/>
                    </a:ext>
                  </a:extLst>
                </a:gridCol>
                <a:gridCol w="1942315">
                  <a:extLst>
                    <a:ext uri="{9D8B030D-6E8A-4147-A177-3AD203B41FA5}">
                      <a16:colId xmlns:a16="http://schemas.microsoft.com/office/drawing/2014/main" val="20002"/>
                    </a:ext>
                  </a:extLst>
                </a:gridCol>
                <a:gridCol w="4998675">
                  <a:extLst>
                    <a:ext uri="{9D8B030D-6E8A-4147-A177-3AD203B41FA5}">
                      <a16:colId xmlns:a16="http://schemas.microsoft.com/office/drawing/2014/main" val="20003"/>
                    </a:ext>
                  </a:extLst>
                </a:gridCol>
              </a:tblGrid>
              <a:tr h="1708212">
                <a:tc>
                  <a:txBody>
                    <a:bodyPr/>
                    <a:lstStyle/>
                    <a:p>
                      <a:pPr marL="133350">
                        <a:lnSpc>
                          <a:spcPct val="100000"/>
                        </a:lnSpc>
                        <a:spcBef>
                          <a:spcPts val="325"/>
                        </a:spcBef>
                      </a:pPr>
                      <a:r>
                        <a:rPr sz="2750" b="1" spc="5" dirty="0">
                          <a:latin typeface="Times New Roman" panose="02020603050405020304" pitchFamily="18" charset="0"/>
                          <a:cs typeface="Times New Roman" panose="02020603050405020304" pitchFamily="18" charset="0"/>
                        </a:rPr>
                        <a:t>Title</a:t>
                      </a:r>
                      <a:r>
                        <a:rPr sz="2750" b="1" spc="-15" dirty="0">
                          <a:latin typeface="Times New Roman" panose="02020603050405020304" pitchFamily="18" charset="0"/>
                          <a:cs typeface="Times New Roman" panose="02020603050405020304" pitchFamily="18" charset="0"/>
                        </a:rPr>
                        <a:t> </a:t>
                      </a:r>
                      <a:r>
                        <a:rPr sz="2750" b="1" spc="25" dirty="0">
                          <a:latin typeface="Times New Roman" panose="02020603050405020304" pitchFamily="18" charset="0"/>
                          <a:cs typeface="Times New Roman" panose="02020603050405020304" pitchFamily="18" charset="0"/>
                        </a:rPr>
                        <a:t>of</a:t>
                      </a:r>
                      <a:r>
                        <a:rPr sz="2750" b="1" dirty="0">
                          <a:latin typeface="Times New Roman" panose="02020603050405020304" pitchFamily="18" charset="0"/>
                          <a:cs typeface="Times New Roman" panose="02020603050405020304" pitchFamily="18" charset="0"/>
                        </a:rPr>
                        <a:t> </a:t>
                      </a:r>
                      <a:r>
                        <a:rPr sz="2750" b="1" spc="5" dirty="0">
                          <a:latin typeface="Times New Roman" panose="02020603050405020304" pitchFamily="18" charset="0"/>
                          <a:cs typeface="Times New Roman" panose="02020603050405020304" pitchFamily="18" charset="0"/>
                        </a:rPr>
                        <a:t>Paper</a:t>
                      </a:r>
                      <a:endParaRPr sz="2750"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281940">
                        <a:lnSpc>
                          <a:spcPct val="100000"/>
                        </a:lnSpc>
                        <a:spcBef>
                          <a:spcPts val="325"/>
                        </a:spcBef>
                      </a:pPr>
                      <a:r>
                        <a:rPr sz="2750" b="1" spc="20" dirty="0">
                          <a:latin typeface="Times New Roman" panose="02020603050405020304" pitchFamily="18" charset="0"/>
                          <a:cs typeface="Times New Roman" panose="02020603050405020304" pitchFamily="18" charset="0"/>
                        </a:rPr>
                        <a:t>Author(s)</a:t>
                      </a:r>
                      <a:endParaRPr sz="2750"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11430" algn="ctr">
                        <a:lnSpc>
                          <a:spcPct val="100000"/>
                        </a:lnSpc>
                        <a:spcBef>
                          <a:spcPts val="325"/>
                        </a:spcBef>
                      </a:pPr>
                      <a:r>
                        <a:rPr sz="2750" b="1" spc="-60" dirty="0">
                          <a:latin typeface="Times New Roman" panose="02020603050405020304" pitchFamily="18" charset="0"/>
                          <a:cs typeface="Times New Roman" panose="02020603050405020304" pitchFamily="18" charset="0"/>
                        </a:rPr>
                        <a:t>Year</a:t>
                      </a:r>
                      <a:r>
                        <a:rPr sz="2750" b="1" spc="-70" dirty="0">
                          <a:latin typeface="Times New Roman" panose="02020603050405020304" pitchFamily="18" charset="0"/>
                          <a:cs typeface="Times New Roman" panose="02020603050405020304" pitchFamily="18" charset="0"/>
                        </a:rPr>
                        <a:t> </a:t>
                      </a:r>
                      <a:endParaRPr sz="2750"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807720" marR="0" lvl="0" indent="0" algn="l" defTabSz="914400" rtl="0" eaLnBrk="1" fontAlgn="auto" latinLnBrk="0" hangingPunct="1">
                        <a:lnSpc>
                          <a:spcPct val="100000"/>
                        </a:lnSpc>
                        <a:spcBef>
                          <a:spcPts val="325"/>
                        </a:spcBef>
                        <a:spcAft>
                          <a:spcPts val="0"/>
                        </a:spcAft>
                        <a:buClrTx/>
                        <a:buSzTx/>
                        <a:buFontTx/>
                        <a:buNone/>
                        <a:tabLst/>
                        <a:defRPr/>
                      </a:pPr>
                      <a:r>
                        <a:rPr lang="en-IN" sz="2750" b="1" spc="30" dirty="0">
                          <a:latin typeface="Times New Roman" panose="02020603050405020304" pitchFamily="18" charset="0"/>
                          <a:cs typeface="Times New Roman" panose="02020603050405020304" pitchFamily="18" charset="0"/>
                        </a:rPr>
                        <a:t>Inference</a:t>
                      </a:r>
                      <a:endParaRPr lang="en-IN" sz="2750" dirty="0">
                        <a:latin typeface="Times New Roman" panose="02020603050405020304" pitchFamily="18" charset="0"/>
                        <a:cs typeface="Times New Roman" panose="02020603050405020304" pitchFamily="18" charset="0"/>
                      </a:endParaRPr>
                    </a:p>
                    <a:p>
                      <a:pPr marL="807720">
                        <a:lnSpc>
                          <a:spcPct val="100000"/>
                        </a:lnSpc>
                        <a:spcBef>
                          <a:spcPts val="325"/>
                        </a:spcBef>
                      </a:pPr>
                      <a:endParaRPr sz="2750"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2361012">
                <a:tc>
                  <a:txBody>
                    <a:bodyPr/>
                    <a:lstStyle/>
                    <a:p>
                      <a:pPr marL="92075" marR="192405">
                        <a:lnSpc>
                          <a:spcPct val="100800"/>
                        </a:lnSpc>
                        <a:spcBef>
                          <a:spcPts val="320"/>
                        </a:spcBef>
                      </a:pPr>
                      <a:r>
                        <a:rPr lang="en-US" sz="2000" b="0" kern="1200" dirty="0">
                          <a:solidFill>
                            <a:schemeClr val="tx1"/>
                          </a:solidFill>
                          <a:effectLst/>
                          <a:latin typeface="Times New Roman" panose="02020603050405020304" pitchFamily="18" charset="0"/>
                          <a:ea typeface="+mn-ea"/>
                          <a:cs typeface="Times New Roman" panose="02020603050405020304" pitchFamily="18" charset="0"/>
                        </a:rPr>
                        <a:t>Home Automation System Using ESP32 and Firebase</a:t>
                      </a:r>
                      <a:endParaRPr sz="2000" b="0" dirty="0">
                        <a:latin typeface="Times New Roman" panose="02020603050405020304" pitchFamily="18" charset="0"/>
                        <a:cs typeface="Times New Roman" panose="02020603050405020304" pitchFamily="18" charset="0"/>
                      </a:endParaRPr>
                    </a:p>
                  </a:txBody>
                  <a:tcPr marL="0" marR="0" marT="4064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3980" marR="254635">
                        <a:lnSpc>
                          <a:spcPct val="100800"/>
                        </a:lnSpc>
                        <a:spcBef>
                          <a:spcPts val="295"/>
                        </a:spcBef>
                      </a:pPr>
                      <a:r>
                        <a:rPr lang="en-US" sz="2000" b="0" kern="1200" dirty="0">
                          <a:solidFill>
                            <a:schemeClr val="tx1"/>
                          </a:solidFill>
                          <a:effectLst/>
                          <a:latin typeface="Times New Roman" panose="02020603050405020304" pitchFamily="18" charset="0"/>
                          <a:ea typeface="+mn-ea"/>
                          <a:cs typeface="Times New Roman" panose="02020603050405020304" pitchFamily="18" charset="0"/>
                        </a:rPr>
                        <a:t>A. Koushal, R. Gupta, &amp; F. Jan</a:t>
                      </a:r>
                      <a:endParaRPr sz="2000" b="0" dirty="0">
                        <a:latin typeface="Times New Roman" panose="02020603050405020304" pitchFamily="18" charset="0"/>
                        <a:cs typeface="Times New Roman" panose="02020603050405020304" pitchFamily="18" charset="0"/>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5885" algn="ctr">
                        <a:lnSpc>
                          <a:spcPct val="100000"/>
                        </a:lnSpc>
                        <a:spcBef>
                          <a:spcPts val="310"/>
                        </a:spcBef>
                      </a:pPr>
                      <a:r>
                        <a:rPr lang="en-US" sz="2000" dirty="0">
                          <a:latin typeface="Times New Roman" panose="02020603050405020304" pitchFamily="18" charset="0"/>
                          <a:cs typeface="Times New Roman" panose="02020603050405020304" pitchFamily="18" charset="0"/>
                        </a:rPr>
                        <a:t>2023</a:t>
                      </a:r>
                      <a:endParaRPr sz="2000" dirty="0">
                        <a:latin typeface="Times New Roman" panose="02020603050405020304" pitchFamily="18" charset="0"/>
                        <a:cs typeface="Times New Roman" panose="02020603050405020304" pitchFamily="18" charset="0"/>
                      </a:endParaRPr>
                    </a:p>
                  </a:txBody>
                  <a:tcPr marL="0" marR="0" marT="3937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8425" marR="121920">
                        <a:lnSpc>
                          <a:spcPct val="102299"/>
                        </a:lnSpc>
                        <a:spcBef>
                          <a:spcPts val="370"/>
                        </a:spcBef>
                      </a:pPr>
                      <a:r>
                        <a:rPr lang="en-US" sz="1900" dirty="0">
                          <a:latin typeface="Times New Roman" panose="02020603050405020304" pitchFamily="18" charset="0"/>
                          <a:cs typeface="Times New Roman" panose="02020603050405020304" pitchFamily="18" charset="0"/>
                        </a:rPr>
                        <a:t>It </a:t>
                      </a:r>
                      <a:r>
                        <a:rPr lang="en-US" sz="1900" kern="1200" dirty="0">
                          <a:solidFill>
                            <a:schemeClr val="tx1"/>
                          </a:solidFill>
                          <a:effectLst/>
                          <a:latin typeface="Times New Roman" panose="02020603050405020304" pitchFamily="18" charset="0"/>
                          <a:ea typeface="+mn-ea"/>
                          <a:cs typeface="Times New Roman" panose="02020603050405020304" pitchFamily="18" charset="0"/>
                        </a:rPr>
                        <a:t>focuses on cloud-based interaction, where Firebase acts as a centralized database for storing sensor data and synchronizing appliance states across multiple user devices. </a:t>
                      </a:r>
                    </a:p>
                  </a:txBody>
                  <a:tcPr marL="0" marR="0" marT="4699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2788776">
                <a:tc>
                  <a:txBody>
                    <a:bodyPr/>
                    <a:lstStyle/>
                    <a:p>
                      <a:pPr marL="92075">
                        <a:lnSpc>
                          <a:spcPct val="100000"/>
                        </a:lnSpc>
                        <a:spcBef>
                          <a:spcPts val="325"/>
                        </a:spcBef>
                      </a:pPr>
                      <a:r>
                        <a:rPr lang="en-US" sz="2000" b="0" kern="1200" dirty="0">
                          <a:solidFill>
                            <a:schemeClr val="tx1"/>
                          </a:solidFill>
                          <a:effectLst/>
                          <a:latin typeface="Times New Roman" panose="02020603050405020304" pitchFamily="18" charset="0"/>
                          <a:ea typeface="+mn-ea"/>
                          <a:cs typeface="Times New Roman" panose="02020603050405020304" pitchFamily="18" charset="0"/>
                        </a:rPr>
                        <a:t>Iot based smart home automation using esp32</a:t>
                      </a:r>
                      <a:endParaRPr sz="2000" b="0" dirty="0">
                        <a:latin typeface="Times New Roman" panose="02020603050405020304" pitchFamily="18" charset="0"/>
                        <a:cs typeface="Times New Roman" panose="02020603050405020304" pitchFamily="18" charset="0"/>
                      </a:endParaRPr>
                    </a:p>
                  </a:txBody>
                  <a:tcPr marL="0" marR="0" marT="41275"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3980" marR="911860" algn="l">
                        <a:lnSpc>
                          <a:spcPct val="100800"/>
                        </a:lnSpc>
                        <a:spcBef>
                          <a:spcPts val="305"/>
                        </a:spcBef>
                      </a:pPr>
                      <a:r>
                        <a:rPr lang="en-US" sz="2000" kern="1200" dirty="0">
                          <a:solidFill>
                            <a:schemeClr val="tx1"/>
                          </a:solidFill>
                          <a:effectLst/>
                          <a:latin typeface="Times New Roman" panose="02020603050405020304" pitchFamily="18" charset="0"/>
                          <a:ea typeface="+mn-ea"/>
                          <a:cs typeface="Times New Roman" panose="02020603050405020304" pitchFamily="18" charset="0"/>
                        </a:rPr>
                        <a:t> </a:t>
                      </a:r>
                      <a:r>
                        <a:rPr lang="en-US" sz="2000" b="0" kern="1200" dirty="0">
                          <a:solidFill>
                            <a:schemeClr val="tx1"/>
                          </a:solidFill>
                          <a:effectLst/>
                          <a:latin typeface="Times New Roman" panose="02020603050405020304" pitchFamily="18" charset="0"/>
                          <a:ea typeface="+mn-ea"/>
                          <a:cs typeface="Times New Roman" panose="02020603050405020304" pitchFamily="18" charset="0"/>
                        </a:rPr>
                        <a:t>R Arunadevi, J Lurdhumary, R Ramya, M S Vinotheni, YuvikaShree S, Swathi D R, K Mariyamma</a:t>
                      </a:r>
                      <a:endParaRPr sz="2000" b="0" dirty="0">
                        <a:latin typeface="Times New Roman" panose="02020603050405020304" pitchFamily="18" charset="0"/>
                        <a:cs typeface="Times New Roman" panose="02020603050405020304" pitchFamily="18" charset="0"/>
                      </a:endParaRPr>
                    </a:p>
                  </a:txBody>
                  <a:tcPr marL="0" marR="0" marT="3873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5885" marR="139700" algn="ctr">
                        <a:lnSpc>
                          <a:spcPct val="100800"/>
                        </a:lnSpc>
                        <a:spcBef>
                          <a:spcPts val="305"/>
                        </a:spcBef>
                      </a:pPr>
                      <a:r>
                        <a:rPr lang="en-US" sz="2000" dirty="0">
                          <a:latin typeface="Times New Roman" panose="02020603050405020304" pitchFamily="18" charset="0"/>
                          <a:cs typeface="Times New Roman" panose="02020603050405020304" pitchFamily="18" charset="0"/>
                        </a:rPr>
                        <a:t>2025</a:t>
                      </a:r>
                      <a:endParaRPr sz="2000" dirty="0">
                        <a:latin typeface="Times New Roman" panose="02020603050405020304" pitchFamily="18" charset="0"/>
                        <a:cs typeface="Times New Roman" panose="02020603050405020304" pitchFamily="18" charset="0"/>
                      </a:endParaRPr>
                    </a:p>
                  </a:txBody>
                  <a:tcPr marL="0" marR="0" marT="3873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marL="98425" marR="82550">
                        <a:lnSpc>
                          <a:spcPct val="102299"/>
                        </a:lnSpc>
                        <a:spcBef>
                          <a:spcPts val="380"/>
                        </a:spcBef>
                      </a:pPr>
                      <a:r>
                        <a:rPr lang="en-US" sz="1900" kern="1200" dirty="0">
                          <a:solidFill>
                            <a:schemeClr val="tx1"/>
                          </a:solidFill>
                          <a:effectLst/>
                          <a:latin typeface="Times New Roman" panose="02020603050405020304" pitchFamily="18" charset="0"/>
                          <a:ea typeface="+mn-ea"/>
                          <a:cs typeface="Times New Roman" panose="02020603050405020304" pitchFamily="18" charset="0"/>
                        </a:rPr>
                        <a:t>It highlights the ESP32’s integrated Wi-Fi capabilities, low power consumption, and cost-effectiveness, making it an ideal platform for scalable IoT applications. </a:t>
                      </a:r>
                      <a:endParaRPr sz="1900" dirty="0">
                        <a:latin typeface="Times New Roman" panose="02020603050405020304" pitchFamily="18" charset="0"/>
                        <a:cs typeface="Times New Roman" panose="02020603050405020304" pitchFamily="18" charset="0"/>
                      </a:endParaRPr>
                    </a:p>
                  </a:txBody>
                  <a:tcPr marL="0" marR="0" marT="4826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25392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E2BEDF6B-8FB1-2E4E-6F30-DBBC03BD789B}"/>
              </a:ext>
            </a:extLst>
          </p:cNvPr>
          <p:cNvSpPr txBox="1">
            <a:spLocks/>
          </p:cNvSpPr>
          <p:nvPr/>
        </p:nvSpPr>
        <p:spPr>
          <a:xfrm>
            <a:off x="190500" y="605790"/>
            <a:ext cx="6257925" cy="597599"/>
          </a:xfrm>
          <a:prstGeom prst="rect">
            <a:avLst/>
          </a:prstGeom>
        </p:spPr>
        <p:txBody>
          <a:bodyPr vert="horz" wrap="square" lIns="0" tIns="43180" rIns="0" bIns="0" rtlCol="0">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92075">
              <a:spcBef>
                <a:spcPts val="340"/>
              </a:spcBef>
            </a:pPr>
            <a:r>
              <a:rPr lang="en-IN" spc="20" dirty="0">
                <a:latin typeface="Times New Roman"/>
                <a:cs typeface="Times New Roman"/>
              </a:rPr>
              <a:t>OBJECTIVES</a:t>
            </a:r>
            <a:endParaRPr lang="en-IN" dirty="0">
              <a:latin typeface="Times New Roman"/>
              <a:cs typeface="Times New Roman"/>
            </a:endParaRPr>
          </a:p>
        </p:txBody>
      </p:sp>
      <p:sp>
        <p:nvSpPr>
          <p:cNvPr id="4" name="object 4">
            <a:extLst>
              <a:ext uri="{FF2B5EF4-FFF2-40B4-BE49-F238E27FC236}">
                <a16:creationId xmlns:a16="http://schemas.microsoft.com/office/drawing/2014/main" id="{7D75779A-591E-737B-8B7A-E6C27ECBA6E8}"/>
              </a:ext>
            </a:extLst>
          </p:cNvPr>
          <p:cNvSpPr txBox="1"/>
          <p:nvPr/>
        </p:nvSpPr>
        <p:spPr>
          <a:xfrm>
            <a:off x="269875" y="1303740"/>
            <a:ext cx="11922125" cy="4594784"/>
          </a:xfrm>
          <a:prstGeom prst="rect">
            <a:avLst/>
          </a:prstGeom>
        </p:spPr>
        <p:txBody>
          <a:bodyPr vert="horz" wrap="square" lIns="0" tIns="12065" rIns="0" bIns="0" rtlCol="0">
            <a:spAutoFit/>
          </a:bodyPr>
          <a:lstStyle/>
          <a:p>
            <a:pPr marL="355600" marR="730250" indent="-343535">
              <a:lnSpc>
                <a:spcPct val="149300"/>
              </a:lnSpc>
              <a:spcBef>
                <a:spcPts val="95"/>
              </a:spcBef>
              <a:buFont typeface="Arial MT"/>
              <a:buChar char="•"/>
              <a:tabLst>
                <a:tab pos="355600" algn="l"/>
                <a:tab pos="356235" algn="l"/>
              </a:tabLst>
            </a:pPr>
            <a:r>
              <a:rPr lang="en-US" sz="2000" dirty="0">
                <a:latin typeface="Times New Roman"/>
                <a:cs typeface="Times New Roman"/>
              </a:rPr>
              <a:t>Smart Home Automation: To automate the control of home appliances such as lights, fans, and doors using IoT-enabled ESP32 for seamless operation with minimal human intervention.</a:t>
            </a:r>
          </a:p>
          <a:p>
            <a:pPr marL="355600" marR="730250" indent="-343535">
              <a:lnSpc>
                <a:spcPct val="149300"/>
              </a:lnSpc>
              <a:spcBef>
                <a:spcPts val="95"/>
              </a:spcBef>
              <a:buFont typeface="Arial MT"/>
              <a:buChar char="•"/>
              <a:tabLst>
                <a:tab pos="355600" algn="l"/>
                <a:tab pos="356235" algn="l"/>
              </a:tabLst>
            </a:pPr>
            <a:r>
              <a:rPr lang="en-US" sz="2000" dirty="0">
                <a:latin typeface="Times New Roman"/>
                <a:cs typeface="Times New Roman"/>
              </a:rPr>
              <a:t>Voice-Controlled Operation: To integrate a voice recognition interface that enables users to control home devices hands-free, improving accessibility and ease of use. </a:t>
            </a:r>
          </a:p>
          <a:p>
            <a:pPr marL="355600" marR="730250" indent="-343535">
              <a:lnSpc>
                <a:spcPct val="149300"/>
              </a:lnSpc>
              <a:spcBef>
                <a:spcPts val="95"/>
              </a:spcBef>
              <a:buFont typeface="Arial MT"/>
              <a:buChar char="•"/>
              <a:tabLst>
                <a:tab pos="355600" algn="l"/>
                <a:tab pos="356235" algn="l"/>
              </a:tabLst>
            </a:pPr>
            <a:r>
              <a:rPr lang="en-US" sz="2000" dirty="0">
                <a:latin typeface="Times New Roman"/>
                <a:cs typeface="Times New Roman"/>
              </a:rPr>
              <a:t>	Secure Access Control: To implement an RFID-based smart door locking system that allows only authorized users to enter, ensuring enhanced home security. </a:t>
            </a:r>
          </a:p>
          <a:p>
            <a:pPr marL="355600" marR="730250" indent="-343535">
              <a:lnSpc>
                <a:spcPct val="149300"/>
              </a:lnSpc>
              <a:spcBef>
                <a:spcPts val="95"/>
              </a:spcBef>
              <a:buFont typeface="Arial MT"/>
              <a:buChar char="•"/>
              <a:tabLst>
                <a:tab pos="355600" algn="l"/>
                <a:tab pos="356235" algn="l"/>
              </a:tabLst>
            </a:pPr>
            <a:r>
              <a:rPr lang="en-US" sz="2000" dirty="0">
                <a:latin typeface="Times New Roman"/>
                <a:cs typeface="Times New Roman"/>
              </a:rPr>
              <a:t>Environmental Monitoring: To use sensors such as DHT11, PIR, LDR, and raindrop modules for monitoring temperature, humidity, motion, and rain to automate actions and improve energy efficiency.</a:t>
            </a:r>
          </a:p>
          <a:p>
            <a:pPr marL="355600" marR="730250" indent="-343535">
              <a:lnSpc>
                <a:spcPct val="149300"/>
              </a:lnSpc>
              <a:spcBef>
                <a:spcPts val="95"/>
              </a:spcBef>
              <a:buFont typeface="Arial MT"/>
              <a:buChar char="•"/>
              <a:tabLst>
                <a:tab pos="355600" algn="l"/>
                <a:tab pos="356235" algn="l"/>
              </a:tabLst>
            </a:pPr>
            <a:r>
              <a:rPr lang="en-US" sz="2000" dirty="0">
                <a:latin typeface="Times New Roman"/>
                <a:cs typeface="Times New Roman"/>
              </a:rPr>
              <a:t>	Remote Monitoring and Control: To develop a web-based dashboard that allows users to monitor and operate home devices remotely through Wi-Fi connectivity.</a:t>
            </a:r>
            <a:endParaRPr sz="2000" dirty="0">
              <a:latin typeface="Times New Roman"/>
              <a:cs typeface="Times New Roman"/>
            </a:endParaRPr>
          </a:p>
        </p:txBody>
      </p:sp>
    </p:spTree>
    <p:extLst>
      <p:ext uri="{BB962C8B-B14F-4D97-AF65-F5344CB8AC3E}">
        <p14:creationId xmlns:p14="http://schemas.microsoft.com/office/powerpoint/2010/main" val="2702426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E2BEDF6B-8FB1-2E4E-6F30-DBBC03BD789B}"/>
              </a:ext>
            </a:extLst>
          </p:cNvPr>
          <p:cNvSpPr txBox="1">
            <a:spLocks/>
          </p:cNvSpPr>
          <p:nvPr/>
        </p:nvSpPr>
        <p:spPr>
          <a:xfrm>
            <a:off x="269875" y="520949"/>
            <a:ext cx="6257925" cy="597599"/>
          </a:xfrm>
          <a:prstGeom prst="rect">
            <a:avLst/>
          </a:prstGeom>
        </p:spPr>
        <p:txBody>
          <a:bodyPr vert="horz" wrap="square" lIns="0" tIns="43180" rIns="0" bIns="0" rtlCol="0">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92075">
              <a:spcBef>
                <a:spcPts val="340"/>
              </a:spcBef>
            </a:pPr>
            <a:r>
              <a:rPr lang="en-US" dirty="0">
                <a:latin typeface="Times New Roman"/>
                <a:cs typeface="Times New Roman"/>
              </a:rPr>
              <a:t>DESIGN METHODOLOGY</a:t>
            </a:r>
          </a:p>
        </p:txBody>
      </p:sp>
      <p:sp>
        <p:nvSpPr>
          <p:cNvPr id="4" name="object 4">
            <a:extLst>
              <a:ext uri="{FF2B5EF4-FFF2-40B4-BE49-F238E27FC236}">
                <a16:creationId xmlns:a16="http://schemas.microsoft.com/office/drawing/2014/main" id="{7D75779A-591E-737B-8B7A-E6C27ECBA6E8}"/>
              </a:ext>
            </a:extLst>
          </p:cNvPr>
          <p:cNvSpPr txBox="1"/>
          <p:nvPr/>
        </p:nvSpPr>
        <p:spPr>
          <a:xfrm>
            <a:off x="269875" y="1303740"/>
            <a:ext cx="11922125" cy="3626314"/>
          </a:xfrm>
          <a:prstGeom prst="rect">
            <a:avLst/>
          </a:prstGeom>
        </p:spPr>
        <p:txBody>
          <a:bodyPr vert="horz" wrap="square" lIns="0" tIns="12065" rIns="0" bIns="0" rtlCol="0">
            <a:spAutoFit/>
          </a:bodyPr>
          <a:lstStyle/>
          <a:p>
            <a:pPr marL="12065" marR="730250">
              <a:lnSpc>
                <a:spcPct val="149300"/>
              </a:lnSpc>
              <a:spcBef>
                <a:spcPts val="95"/>
              </a:spcBef>
              <a:tabLst>
                <a:tab pos="355600" algn="l"/>
                <a:tab pos="356235" algn="l"/>
              </a:tabLst>
            </a:pPr>
            <a:r>
              <a:rPr lang="en-US" sz="2000" dirty="0">
                <a:latin typeface="Times New Roman" panose="02020603050405020304" pitchFamily="18" charset="0"/>
                <a:cs typeface="Times New Roman" panose="02020603050405020304" pitchFamily="18" charset="0"/>
              </a:rPr>
              <a:t>The hardware design consists of several essential modules. The ESP32 microcontroller is selected for its dual-core processing capability, integrated Wi-Fi and Bluetooth connectivity, and low power consumption making it ideal for IoT applications. The DHT11 sensor is incorporated to monitor temperature and humidity, allowing automated climate  adjustments based on real-time data. Motion detection is handled by a PIR sensor, which activates lights or security alerts upon detecting movement. A photoresistor sensor enables ambient light-based automation, adjusting indoor lighting to optimize energy efficiency.      A raindrop sensor is included to detect precipitation and trigger the automatic closing of windows or activating alerts for homeowners. For security and controlled access, an RFID module is implemented</a:t>
            </a:r>
            <a:endParaRPr sz="2000" dirty="0">
              <a:latin typeface="Times New Roman"/>
              <a:cs typeface="Times New Roman"/>
            </a:endParaRPr>
          </a:p>
        </p:txBody>
      </p:sp>
    </p:spTree>
    <p:extLst>
      <p:ext uri="{BB962C8B-B14F-4D97-AF65-F5344CB8AC3E}">
        <p14:creationId xmlns:p14="http://schemas.microsoft.com/office/powerpoint/2010/main" val="1539533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E2BEDF6B-8FB1-2E4E-6F30-DBBC03BD789B}"/>
              </a:ext>
            </a:extLst>
          </p:cNvPr>
          <p:cNvSpPr txBox="1">
            <a:spLocks/>
          </p:cNvSpPr>
          <p:nvPr/>
        </p:nvSpPr>
        <p:spPr>
          <a:xfrm>
            <a:off x="269875" y="520949"/>
            <a:ext cx="6257925" cy="597599"/>
          </a:xfrm>
          <a:prstGeom prst="rect">
            <a:avLst/>
          </a:prstGeom>
        </p:spPr>
        <p:txBody>
          <a:bodyPr vert="horz" wrap="square" lIns="0" tIns="43180" rIns="0" bIns="0" rtlCol="0">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92075">
              <a:spcBef>
                <a:spcPts val="340"/>
              </a:spcBef>
            </a:pPr>
            <a:r>
              <a:rPr lang="en-US" dirty="0">
                <a:latin typeface="Times New Roman"/>
                <a:cs typeface="Times New Roman"/>
              </a:rPr>
              <a:t>BLOCK DIAGRAM</a:t>
            </a:r>
          </a:p>
        </p:txBody>
      </p:sp>
      <p:pic>
        <p:nvPicPr>
          <p:cNvPr id="5" name="Picture 4">
            <a:extLst>
              <a:ext uri="{FF2B5EF4-FFF2-40B4-BE49-F238E27FC236}">
                <a16:creationId xmlns:a16="http://schemas.microsoft.com/office/drawing/2014/main" id="{09B88D4A-19CF-488B-9DAA-060DBC36D5B0}"/>
              </a:ext>
            </a:extLst>
          </p:cNvPr>
          <p:cNvPicPr/>
          <p:nvPr/>
        </p:nvPicPr>
        <p:blipFill>
          <a:blip r:embed="rId2">
            <a:extLst>
              <a:ext uri="{28A0092B-C50C-407E-A947-70E740481C1C}">
                <a14:useLocalDpi xmlns:a14="http://schemas.microsoft.com/office/drawing/2010/main" val="0"/>
              </a:ext>
            </a:extLst>
          </a:blip>
          <a:stretch>
            <a:fillRect/>
          </a:stretch>
        </p:blipFill>
        <p:spPr>
          <a:xfrm>
            <a:off x="920324" y="1508335"/>
            <a:ext cx="9383171" cy="5142230"/>
          </a:xfrm>
          <a:prstGeom prst="rect">
            <a:avLst/>
          </a:prstGeom>
        </p:spPr>
      </p:pic>
    </p:spTree>
    <p:extLst>
      <p:ext uri="{BB962C8B-B14F-4D97-AF65-F5344CB8AC3E}">
        <p14:creationId xmlns:p14="http://schemas.microsoft.com/office/powerpoint/2010/main" val="1424523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A6ECFAE-C9B9-A501-BBF1-D4002D44480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564136E-0985-184D-33A9-9F566BB751C6}"/>
              </a:ext>
            </a:extLst>
          </p:cNvPr>
          <p:cNvSpPr txBox="1">
            <a:spLocks/>
          </p:cNvSpPr>
          <p:nvPr/>
        </p:nvSpPr>
        <p:spPr>
          <a:xfrm>
            <a:off x="918804" y="520947"/>
            <a:ext cx="6257925" cy="597599"/>
          </a:xfrm>
          <a:prstGeom prst="rect">
            <a:avLst/>
          </a:prstGeom>
        </p:spPr>
        <p:txBody>
          <a:bodyPr vert="horz" wrap="square" lIns="0" tIns="43180" rIns="0" bIns="0" rtlCol="0">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92075">
              <a:spcBef>
                <a:spcPts val="340"/>
              </a:spcBef>
            </a:pPr>
            <a:endParaRPr lang="en-US" dirty="0">
              <a:latin typeface="Times New Roman"/>
              <a:cs typeface="Times New Roman"/>
            </a:endParaRPr>
          </a:p>
        </p:txBody>
      </p:sp>
      <p:sp>
        <p:nvSpPr>
          <p:cNvPr id="2" name="Title 1">
            <a:extLst>
              <a:ext uri="{FF2B5EF4-FFF2-40B4-BE49-F238E27FC236}">
                <a16:creationId xmlns:a16="http://schemas.microsoft.com/office/drawing/2014/main" id="{B2CDB383-30D6-1C6A-6520-615415B07CF4}"/>
              </a:ext>
            </a:extLst>
          </p:cNvPr>
          <p:cNvSpPr>
            <a:spLocks noGrp="1"/>
          </p:cNvSpPr>
          <p:nvPr>
            <p:ph type="title"/>
          </p:nvPr>
        </p:nvSpPr>
        <p:spPr>
          <a:xfrm>
            <a:off x="285135" y="222146"/>
            <a:ext cx="4778478" cy="597600"/>
          </a:xfrm>
        </p:spPr>
        <p:txBody>
          <a:bodyPr>
            <a:normAutofit/>
          </a:bodyPr>
          <a:lstStyle/>
          <a:p>
            <a:r>
              <a:rPr lang="en-IN" sz="3200" dirty="0">
                <a:solidFill>
                  <a:schemeClr val="accent4"/>
                </a:solidFill>
              </a:rPr>
              <a:t>Block diagram states that:</a:t>
            </a:r>
          </a:p>
        </p:txBody>
      </p:sp>
      <p:sp>
        <p:nvSpPr>
          <p:cNvPr id="4" name="Content Placeholder 3">
            <a:extLst>
              <a:ext uri="{FF2B5EF4-FFF2-40B4-BE49-F238E27FC236}">
                <a16:creationId xmlns:a16="http://schemas.microsoft.com/office/drawing/2014/main" id="{21E51403-0608-007C-0343-1632EC0836D9}"/>
              </a:ext>
            </a:extLst>
          </p:cNvPr>
          <p:cNvSpPr>
            <a:spLocks noGrp="1"/>
          </p:cNvSpPr>
          <p:nvPr>
            <p:ph idx="1"/>
          </p:nvPr>
        </p:nvSpPr>
        <p:spPr>
          <a:xfrm>
            <a:off x="344128" y="1209368"/>
            <a:ext cx="11277601" cy="5426486"/>
          </a:xfrm>
        </p:spPr>
        <p:txBody>
          <a:bodyPr>
            <a:normAutofit fontScale="25000" lnSpcReduction="20000"/>
          </a:bodyPr>
          <a:lstStyle/>
          <a:p>
            <a:pPr marL="0" indent="0" algn="just">
              <a:lnSpc>
                <a:spcPct val="170000"/>
              </a:lnSpc>
              <a:buNone/>
            </a:pPr>
            <a:r>
              <a:rPr lang="en-US" dirty="0"/>
              <a:t>   </a:t>
            </a:r>
            <a:r>
              <a:rPr lang="en-US" sz="7200" dirty="0">
                <a:latin typeface="Times New Roman" panose="02020603050405020304" pitchFamily="18" charset="0"/>
                <a:cs typeface="Times New Roman" panose="02020603050405020304" pitchFamily="18" charset="0"/>
              </a:rPr>
              <a:t>The block diagram illustrates a complete IoT-based smart home automation system centered around the ESP32 controller, which acts as the main processing unit and provides Wi-Fi connectivity for remote monitoring and control. Multiple sensors are interfaced with the ESP32 to gather real-time environmental, security, and lighting data. The rain sensor detects rainfall for automatic window or roof control, while the DHT11 sensor measures temperature and humidity to support climate-based automation. The PIR motion sensor identifies human movement to enable security alerts or automatic lighting, and the LDR sensor measures surrounding light intensity to turn lights ON or OFF automatically during dark conditions. After processing all sensor inputs, the ESP32 controls various output modules and home appliances through actuators. Additional smart modules, such as a laser sensor for intrusion detection, </a:t>
            </a:r>
            <a:r>
              <a:rPr lang="en-US" sz="7200" dirty="0" err="1">
                <a:latin typeface="Times New Roman" panose="02020603050405020304" pitchFamily="18" charset="0"/>
                <a:cs typeface="Times New Roman" panose="02020603050405020304" pitchFamily="18" charset="0"/>
              </a:rPr>
              <a:t>colourful</a:t>
            </a:r>
            <a:r>
              <a:rPr lang="en-US" sz="7200" dirty="0">
                <a:latin typeface="Times New Roman" panose="02020603050405020304" pitchFamily="18" charset="0"/>
                <a:cs typeface="Times New Roman" panose="02020603050405020304" pitchFamily="18" charset="0"/>
              </a:rPr>
              <a:t> decorative/ambient lights, and an RFID-based smart door locking system, enhance security and user convenience. The system continuously updates information on an LCD display and also sends data to a web or mobile app for remote monitoring. Users can view sensor readings, control appliances, and receive alerts through the online dashboard. Overall, this project demonstrates a fully automated IoT smart home system that integrates sensing, processing, actuation, and wireless communication to create a secure, energy-efficient, and intelligent home environment.</a:t>
            </a:r>
          </a:p>
          <a:p>
            <a:endParaRPr lang="en-IN" dirty="0"/>
          </a:p>
        </p:txBody>
      </p:sp>
    </p:spTree>
    <p:extLst>
      <p:ext uri="{BB962C8B-B14F-4D97-AF65-F5344CB8AC3E}">
        <p14:creationId xmlns:p14="http://schemas.microsoft.com/office/powerpoint/2010/main" val="497260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3CC36-64ED-C454-103C-9FD1B2614299}"/>
              </a:ext>
            </a:extLst>
          </p:cNvPr>
          <p:cNvSpPr txBox="1"/>
          <p:nvPr/>
        </p:nvSpPr>
        <p:spPr>
          <a:xfrm>
            <a:off x="851808" y="1915132"/>
            <a:ext cx="4547506" cy="4278094"/>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ESP32 Controller Board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Blue LED Module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Raindrop Sensor</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Voice Recognition Module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Laser Module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DHT11 Temperature &amp; Humidity Sensor</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PIR Motion Sensor</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RFID Module+IC Keychain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Button Module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7ED12E6-0877-EF55-8421-2042214D1188}"/>
              </a:ext>
            </a:extLst>
          </p:cNvPr>
          <p:cNvSpPr txBox="1"/>
          <p:nvPr/>
        </p:nvSpPr>
        <p:spPr>
          <a:xfrm>
            <a:off x="449036" y="163677"/>
            <a:ext cx="6096000" cy="646331"/>
          </a:xfrm>
          <a:prstGeom prst="rect">
            <a:avLst/>
          </a:prstGeom>
          <a:noFill/>
        </p:spPr>
        <p:txBody>
          <a:bodyPr wrap="square">
            <a:spAutoFit/>
          </a:bodyPr>
          <a:lstStyle/>
          <a:p>
            <a:r>
              <a:rPr lang="en-US" sz="3600" dirty="0">
                <a:solidFill>
                  <a:schemeClr val="accent1"/>
                </a:solidFill>
                <a:latin typeface="Times New Roman" panose="02020603050405020304" pitchFamily="18" charset="0"/>
                <a:cs typeface="Times New Roman" panose="02020603050405020304" pitchFamily="18" charset="0"/>
              </a:rPr>
              <a:t>COMPONENTS REQUIRED</a:t>
            </a:r>
            <a:endParaRPr lang="en-IN" sz="3600" dirty="0">
              <a:solidFill>
                <a:schemeClr val="accent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1485B34-3D6F-5715-5D76-091E5E5EA1FA}"/>
              </a:ext>
            </a:extLst>
          </p:cNvPr>
          <p:cNvSpPr txBox="1"/>
          <p:nvPr/>
        </p:nvSpPr>
        <p:spPr>
          <a:xfrm>
            <a:off x="449036" y="1124043"/>
            <a:ext cx="6096000" cy="523220"/>
          </a:xfrm>
          <a:prstGeom prst="rect">
            <a:avLst/>
          </a:prstGeom>
          <a:noFill/>
        </p:spPr>
        <p:txBody>
          <a:bodyPr wrap="square">
            <a:spAutoFit/>
          </a:bodyPr>
          <a:lstStyle/>
          <a:p>
            <a:pPr marL="285750" indent="-285750">
              <a:buFont typeface="Wingdings" panose="05000000000000000000" pitchFamily="2" charset="2"/>
              <a:buChar char="Ø"/>
            </a:pPr>
            <a:r>
              <a:rPr lang="en-IN" sz="2800" b="1" dirty="0">
                <a:latin typeface="Times New Roman" panose="02020603050405020304" pitchFamily="18" charset="0"/>
                <a:cs typeface="Times New Roman" panose="02020603050405020304" pitchFamily="18" charset="0"/>
              </a:rPr>
              <a:t>Hardware Components</a:t>
            </a:r>
          </a:p>
        </p:txBody>
      </p:sp>
      <p:sp>
        <p:nvSpPr>
          <p:cNvPr id="9" name="TextBox 8">
            <a:extLst>
              <a:ext uri="{FF2B5EF4-FFF2-40B4-BE49-F238E27FC236}">
                <a16:creationId xmlns:a16="http://schemas.microsoft.com/office/drawing/2014/main" id="{FB4B1BEB-DB5A-6B24-EE31-28B8F2BD0591}"/>
              </a:ext>
            </a:extLst>
          </p:cNvPr>
          <p:cNvSpPr txBox="1"/>
          <p:nvPr/>
        </p:nvSpPr>
        <p:spPr>
          <a:xfrm>
            <a:off x="5643513" y="1573167"/>
            <a:ext cx="4397829" cy="3877985"/>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Photoresistor Sensor</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LCD Module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6 AA Battery Holder</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Servo SG90 9G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RBG LED Strip</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F-F 3P Dupont Wire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F-F 4P Dupont Wire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Wodden Board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Mirror Kit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Acrylic  Board For Servo </a:t>
            </a:r>
          </a:p>
          <a:p>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4937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1ACF16-2376-BF0B-43DE-2EBBC9405130}"/>
              </a:ext>
            </a:extLst>
          </p:cNvPr>
          <p:cNvSpPr>
            <a:spLocks noGrp="1"/>
          </p:cNvSpPr>
          <p:nvPr>
            <p:ph idx="4294967295"/>
          </p:nvPr>
        </p:nvSpPr>
        <p:spPr>
          <a:xfrm>
            <a:off x="0" y="2016125"/>
            <a:ext cx="5105400" cy="3449638"/>
          </a:xfrm>
        </p:spPr>
        <p:txBody>
          <a:bodyPr>
            <a:noAutofit/>
          </a:bodyPr>
          <a:lstStyle/>
          <a:p>
            <a:r>
              <a:rPr lang="en-US"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rduino IDE</a:t>
            </a:r>
          </a:p>
          <a:p>
            <a:r>
              <a:rPr lang="en-IN" dirty="0">
                <a:latin typeface="Times New Roman" panose="02020603050405020304" pitchFamily="18" charset="0"/>
                <a:cs typeface="Times New Roman" panose="02020603050405020304" pitchFamily="18" charset="0"/>
              </a:rPr>
              <a:t>ESP32 Board Libraries</a:t>
            </a:r>
          </a:p>
          <a:p>
            <a:r>
              <a:rPr lang="en-US" dirty="0">
                <a:latin typeface="Times New Roman" panose="02020603050405020304" pitchFamily="18" charset="0"/>
                <a:cs typeface="Times New Roman" panose="02020603050405020304" pitchFamily="18" charset="0"/>
              </a:rPr>
              <a:t>H</a:t>
            </a:r>
            <a:r>
              <a:rPr lang="en-IN" dirty="0">
                <a:latin typeface="Times New Roman" panose="02020603050405020304" pitchFamily="18" charset="0"/>
                <a:cs typeface="Times New Roman" panose="02020603050405020304" pitchFamily="18" charset="0"/>
              </a:rPr>
              <a:t>TML,CSS and Javascript</a:t>
            </a:r>
          </a:p>
          <a:p>
            <a:r>
              <a:rPr lang="en-US" dirty="0">
                <a:latin typeface="Times New Roman" panose="02020603050405020304" pitchFamily="18" charset="0"/>
                <a:cs typeface="Times New Roman" panose="02020603050405020304" pitchFamily="18" charset="0"/>
              </a:rPr>
              <a:t>H</a:t>
            </a:r>
            <a:r>
              <a:rPr lang="en-IN" dirty="0">
                <a:latin typeface="Times New Roman" panose="02020603050405020304" pitchFamily="18" charset="0"/>
                <a:cs typeface="Times New Roman" panose="02020603050405020304" pitchFamily="18" charset="0"/>
              </a:rPr>
              <a:t>TTP, I2C and UART Protocols</a:t>
            </a:r>
          </a:p>
          <a:p>
            <a:r>
              <a:rPr lang="en-US" dirty="0">
                <a:latin typeface="Times New Roman" panose="02020603050405020304" pitchFamily="18" charset="0"/>
                <a:cs typeface="Times New Roman" panose="02020603050405020304" pitchFamily="18" charset="0"/>
              </a:rPr>
              <a:t>E</a:t>
            </a:r>
            <a:r>
              <a:rPr lang="en-IN" dirty="0">
                <a:latin typeface="Times New Roman" panose="02020603050405020304" pitchFamily="18" charset="0"/>
                <a:cs typeface="Times New Roman" panose="02020603050405020304" pitchFamily="18" charset="0"/>
              </a:rPr>
              <a:t>SP32 Web Server</a:t>
            </a:r>
          </a:p>
          <a:p>
            <a:r>
              <a:rPr lang="en-US" dirty="0">
                <a:latin typeface="Times New Roman" panose="02020603050405020304" pitchFamily="18" charset="0"/>
                <a:cs typeface="Times New Roman" panose="02020603050405020304" pitchFamily="18" charset="0"/>
              </a:rPr>
              <a:t>S</a:t>
            </a:r>
            <a:r>
              <a:rPr lang="en-IN" dirty="0">
                <a:latin typeface="Times New Roman" panose="02020603050405020304" pitchFamily="18" charset="0"/>
                <a:cs typeface="Times New Roman" panose="02020603050405020304" pitchFamily="18" charset="0"/>
              </a:rPr>
              <a:t>peech -To- Text Library / Voice Processing Module</a:t>
            </a:r>
          </a:p>
          <a:p>
            <a:r>
              <a:rPr lang="en-US" dirty="0">
                <a:latin typeface="Times New Roman" panose="02020603050405020304" pitchFamily="18" charset="0"/>
                <a:cs typeface="Times New Roman" panose="02020603050405020304" pitchFamily="18" charset="0"/>
              </a:rPr>
              <a:t>USB-To-UART Driver</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D3F0E43-1E80-88ED-0CC0-C54CA99F4654}"/>
              </a:ext>
            </a:extLst>
          </p:cNvPr>
          <p:cNvSpPr txBox="1"/>
          <p:nvPr/>
        </p:nvSpPr>
        <p:spPr>
          <a:xfrm>
            <a:off x="424544" y="915183"/>
            <a:ext cx="4582887" cy="954107"/>
          </a:xfrm>
          <a:prstGeom prst="rect">
            <a:avLst/>
          </a:prstGeom>
          <a:noFill/>
        </p:spPr>
        <p:txBody>
          <a:bodyPr wrap="square">
            <a:spAutoFit/>
          </a:bodyPr>
          <a:lstStyle/>
          <a:p>
            <a:pPr marL="342900" indent="-342900">
              <a:buFont typeface="Wingdings" panose="05000000000000000000" pitchFamily="2" charset="2"/>
              <a:buChar char="Ø"/>
            </a:pPr>
            <a:r>
              <a:rPr lang="en-IN" sz="2800" b="1" dirty="0">
                <a:latin typeface="Times New Roman" panose="02020603050405020304" pitchFamily="18" charset="0"/>
                <a:cs typeface="Times New Roman" panose="02020603050405020304" pitchFamily="18" charset="0"/>
              </a:rPr>
              <a:t>Software Components</a:t>
            </a:r>
          </a:p>
          <a:p>
            <a:endParaRPr lang="en-IN" sz="2800" b="1" dirty="0">
              <a:solidFill>
                <a:schemeClr val="accent1"/>
              </a:solidFill>
            </a:endParaRPr>
          </a:p>
        </p:txBody>
      </p:sp>
    </p:spTree>
    <p:extLst>
      <p:ext uri="{BB962C8B-B14F-4D97-AF65-F5344CB8AC3E}">
        <p14:creationId xmlns:p14="http://schemas.microsoft.com/office/powerpoint/2010/main" val="1377819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EC973EE-60D8-A910-F16C-A173376E6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310FF-4AE4-F3D1-A44A-4FC80028FFEC}"/>
              </a:ext>
            </a:extLst>
          </p:cNvPr>
          <p:cNvSpPr>
            <a:spLocks noGrp="1"/>
          </p:cNvSpPr>
          <p:nvPr>
            <p:ph type="title"/>
          </p:nvPr>
        </p:nvSpPr>
        <p:spPr>
          <a:xfrm>
            <a:off x="1569114" y="188998"/>
            <a:ext cx="4920176" cy="823724"/>
          </a:xfrm>
        </p:spPr>
        <p:txBody>
          <a:bodyPr>
            <a:normAutofit/>
          </a:bodyPr>
          <a:lstStyle/>
          <a:p>
            <a:r>
              <a:rPr lang="en-US" sz="3200" dirty="0">
                <a:latin typeface="Times New Roman" panose="02020603050405020304" pitchFamily="18" charset="0"/>
                <a:cs typeface="Times New Roman" panose="02020603050405020304" pitchFamily="18" charset="0"/>
              </a:rPr>
              <a:t>ESP32 Controller Board</a:t>
            </a:r>
            <a:endParaRPr lang="en-IN" sz="3200" dirty="0"/>
          </a:p>
        </p:txBody>
      </p:sp>
      <p:sp>
        <p:nvSpPr>
          <p:cNvPr id="6" name="Text Placeholder 5">
            <a:extLst>
              <a:ext uri="{FF2B5EF4-FFF2-40B4-BE49-F238E27FC236}">
                <a16:creationId xmlns:a16="http://schemas.microsoft.com/office/drawing/2014/main" id="{51D9B99C-B577-B353-A4FF-07D82EB59C5A}"/>
              </a:ext>
            </a:extLst>
          </p:cNvPr>
          <p:cNvSpPr>
            <a:spLocks noGrp="1"/>
          </p:cNvSpPr>
          <p:nvPr>
            <p:ph type="body" sz="half" idx="2"/>
          </p:nvPr>
        </p:nvSpPr>
        <p:spPr>
          <a:xfrm>
            <a:off x="6656440" y="1278194"/>
            <a:ext cx="5230760" cy="4807973"/>
          </a:xfrm>
        </p:spPr>
        <p:txBody>
          <a:bodyPr>
            <a:normAutofit/>
          </a:bodyPr>
          <a:lstStyle/>
          <a:p>
            <a:pPr algn="just"/>
            <a:r>
              <a:rPr lang="en-US" sz="2000" dirty="0"/>
              <a:t>As shown in the figure, the ESP32 MAX V1.0 is the main controller used in the smart home automation system. It has built-in Wi-Fi and Bluetooth, allowing remote control and voice operation. The board reads data from sensors like temperature, motion, light, and rain to automate different home functions. It also controls relays and the door lock system for switching appliances and securing the house.</a:t>
            </a:r>
          </a:p>
          <a:p>
            <a:pPr algn="just"/>
            <a:r>
              <a:rPr lang="en-US" sz="2000" dirty="0"/>
              <a:t>The ESP32 supports RFID, LCD display, and voice modules to make the system safer and more user-friendly. It is programmed using the Arduino IDE and works as a small web server for real-time monitoring and device control.</a:t>
            </a:r>
            <a:endParaRPr lang="en-IN" sz="2000" dirty="0"/>
          </a:p>
          <a:p>
            <a:pPr algn="just"/>
            <a:endParaRPr lang="en-IN" sz="2000" dirty="0"/>
          </a:p>
          <a:p>
            <a:endParaRPr lang="en-IN" dirty="0"/>
          </a:p>
        </p:txBody>
      </p:sp>
      <p:pic>
        <p:nvPicPr>
          <p:cNvPr id="12" name="Content Placeholder 11">
            <a:extLst>
              <a:ext uri="{FF2B5EF4-FFF2-40B4-BE49-F238E27FC236}">
                <a16:creationId xmlns:a16="http://schemas.microsoft.com/office/drawing/2014/main" id="{3BE9F36E-7260-3BDA-15BE-94E7F6CEB2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3626" y="1278194"/>
            <a:ext cx="5928852" cy="5060883"/>
          </a:xfrm>
        </p:spPr>
      </p:pic>
    </p:spTree>
    <p:extLst>
      <p:ext uri="{BB962C8B-B14F-4D97-AF65-F5344CB8AC3E}">
        <p14:creationId xmlns:p14="http://schemas.microsoft.com/office/powerpoint/2010/main" val="1099778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12F8192-AA93-727A-65DA-24E3376EE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A5995-E27F-DDE1-58B7-C9F55B4BC880}"/>
              </a:ext>
            </a:extLst>
          </p:cNvPr>
          <p:cNvSpPr>
            <a:spLocks noGrp="1"/>
          </p:cNvSpPr>
          <p:nvPr>
            <p:ph type="title"/>
          </p:nvPr>
        </p:nvSpPr>
        <p:spPr>
          <a:xfrm>
            <a:off x="2640830" y="90676"/>
            <a:ext cx="4920176" cy="823724"/>
          </a:xfrm>
        </p:spPr>
        <p:txBody>
          <a:bodyPr>
            <a:normAutofit/>
          </a:bodyPr>
          <a:lstStyle/>
          <a:p>
            <a:r>
              <a:rPr lang="en-IN" sz="4400" dirty="0">
                <a:solidFill>
                  <a:srgbClr val="7030A0"/>
                </a:solidFill>
              </a:rPr>
              <a:t>RESULT</a:t>
            </a:r>
          </a:p>
        </p:txBody>
      </p:sp>
      <p:sp>
        <p:nvSpPr>
          <p:cNvPr id="6" name="Text Placeholder 5">
            <a:extLst>
              <a:ext uri="{FF2B5EF4-FFF2-40B4-BE49-F238E27FC236}">
                <a16:creationId xmlns:a16="http://schemas.microsoft.com/office/drawing/2014/main" id="{22222E5B-0720-06AA-FE43-7736C70C98CF}"/>
              </a:ext>
            </a:extLst>
          </p:cNvPr>
          <p:cNvSpPr>
            <a:spLocks noGrp="1"/>
          </p:cNvSpPr>
          <p:nvPr>
            <p:ph type="body" sz="half" idx="2"/>
          </p:nvPr>
        </p:nvSpPr>
        <p:spPr>
          <a:xfrm>
            <a:off x="6813755" y="1278194"/>
            <a:ext cx="4788310" cy="4807973"/>
          </a:xfrm>
        </p:spPr>
        <p:txBody>
          <a:bodyPr>
            <a:normAutofit fontScale="92500" lnSpcReduction="20000"/>
          </a:bodyPr>
          <a:lstStyle/>
          <a:p>
            <a:pPr algn="just"/>
            <a:r>
              <a:rPr lang="en-US" sz="2200" dirty="0"/>
              <a:t>As shown in Figure, the proposed Voice-Controlled Home Automation System with Smart Door Lock was successfully designed, implemented, and tested using the ESP32 microcontroller. The system accurately performed real-time monitoring and automatic control of various home appliances and security components. The integration of temperature, humidity, motion, LDR, and raindrop sensors allowed the system to respond intelligently to environmental changes, enabling automatic lighting, window control, and security alerts. Voice commands were successfully recognized by the voice-processing module, enabling hands-free operation of lights, fans, and the smart door lock. This feature significantly improved user convenience, especially for elderly or physically challenged individuals. </a:t>
            </a:r>
            <a:endParaRPr lang="en-IN" sz="2200" dirty="0"/>
          </a:p>
          <a:p>
            <a:endParaRPr lang="en-IN" dirty="0"/>
          </a:p>
        </p:txBody>
      </p:sp>
      <p:sp>
        <p:nvSpPr>
          <p:cNvPr id="4" name="Content Placeholder 3">
            <a:extLst>
              <a:ext uri="{FF2B5EF4-FFF2-40B4-BE49-F238E27FC236}">
                <a16:creationId xmlns:a16="http://schemas.microsoft.com/office/drawing/2014/main" id="{F9664205-89DA-57EE-A128-686211A2B88D}"/>
              </a:ext>
            </a:extLst>
          </p:cNvPr>
          <p:cNvSpPr>
            <a:spLocks noGrp="1"/>
          </p:cNvSpPr>
          <p:nvPr>
            <p:ph idx="1"/>
          </p:nvPr>
        </p:nvSpPr>
        <p:spPr>
          <a:xfrm>
            <a:off x="462116" y="1235312"/>
            <a:ext cx="6027174" cy="4893735"/>
          </a:xfrm>
        </p:spPr>
        <p:txBody>
          <a:bodyPr/>
          <a:lstStyle/>
          <a:p>
            <a:endParaRPr lang="en-IN" dirty="0"/>
          </a:p>
        </p:txBody>
      </p:sp>
      <p:pic>
        <p:nvPicPr>
          <p:cNvPr id="7" name="Picture 6">
            <a:extLst>
              <a:ext uri="{FF2B5EF4-FFF2-40B4-BE49-F238E27FC236}">
                <a16:creationId xmlns:a16="http://schemas.microsoft.com/office/drawing/2014/main" id="{93872BC8-F1E6-DEDA-2DA9-B6DE8531936A}"/>
              </a:ext>
            </a:extLst>
          </p:cNvPr>
          <p:cNvPicPr>
            <a:picLocks noChangeAspect="1"/>
          </p:cNvPicPr>
          <p:nvPr/>
        </p:nvPicPr>
        <p:blipFill>
          <a:blip r:embed="rId2"/>
          <a:stretch>
            <a:fillRect/>
          </a:stretch>
        </p:blipFill>
        <p:spPr>
          <a:xfrm>
            <a:off x="462116" y="1235313"/>
            <a:ext cx="6027174" cy="5018004"/>
          </a:xfrm>
          <a:prstGeom prst="rect">
            <a:avLst/>
          </a:prstGeom>
        </p:spPr>
      </p:pic>
      <p:sp>
        <p:nvSpPr>
          <p:cNvPr id="9" name="TextBox 8">
            <a:extLst>
              <a:ext uri="{FF2B5EF4-FFF2-40B4-BE49-F238E27FC236}">
                <a16:creationId xmlns:a16="http://schemas.microsoft.com/office/drawing/2014/main" id="{3EFB34C7-EBDC-6741-08B6-549F48F359AB}"/>
              </a:ext>
            </a:extLst>
          </p:cNvPr>
          <p:cNvSpPr txBox="1"/>
          <p:nvPr/>
        </p:nvSpPr>
        <p:spPr>
          <a:xfrm>
            <a:off x="383458" y="6299670"/>
            <a:ext cx="6430297" cy="369332"/>
          </a:xfrm>
          <a:prstGeom prst="rect">
            <a:avLst/>
          </a:prstGeom>
          <a:noFill/>
        </p:spPr>
        <p:txBody>
          <a:bodyPr wrap="square">
            <a:spAutoFit/>
          </a:bodyPr>
          <a:lstStyle/>
          <a:p>
            <a:r>
              <a:rPr lang="en-US" sz="1800" b="1" i="0" u="none" strike="noStrike" baseline="0" dirty="0">
                <a:solidFill>
                  <a:srgbClr val="000000"/>
                </a:solidFill>
                <a:latin typeface="Times New Roman" panose="02020603050405020304" pitchFamily="18" charset="0"/>
              </a:rPr>
              <a:t> Voice Control Home Automation With Smart Door Lock </a:t>
            </a:r>
            <a:endParaRPr lang="en-IN" dirty="0"/>
          </a:p>
        </p:txBody>
      </p:sp>
    </p:spTree>
    <p:extLst>
      <p:ext uri="{BB962C8B-B14F-4D97-AF65-F5344CB8AC3E}">
        <p14:creationId xmlns:p14="http://schemas.microsoft.com/office/powerpoint/2010/main" val="1738572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AE7C8-8477-41A1-2AB5-90942B3811EB}"/>
              </a:ext>
            </a:extLst>
          </p:cNvPr>
          <p:cNvSpPr>
            <a:spLocks noGrp="1"/>
          </p:cNvSpPr>
          <p:nvPr>
            <p:ph type="title" idx="4294967295"/>
          </p:nvPr>
        </p:nvSpPr>
        <p:spPr>
          <a:xfrm>
            <a:off x="-1" y="441325"/>
            <a:ext cx="11090787" cy="404813"/>
          </a:xfrm>
        </p:spPr>
        <p:txBody>
          <a:bodyPr>
            <a:noAutofit/>
          </a:bodyPr>
          <a:lstStyle/>
          <a:p>
            <a:r>
              <a:rPr lang="en-IN" sz="4800" dirty="0">
                <a:solidFill>
                  <a:schemeClr val="accent1"/>
                </a:solidFill>
                <a:latin typeface="Times New Roman" panose="02020603050405020304" pitchFamily="18" charset="0"/>
                <a:cs typeface="Times New Roman" panose="02020603050405020304" pitchFamily="18" charset="0"/>
              </a:rPr>
              <a:t>        References</a:t>
            </a:r>
          </a:p>
        </p:txBody>
      </p:sp>
      <p:sp>
        <p:nvSpPr>
          <p:cNvPr id="3" name="Content Placeholder 2">
            <a:extLst>
              <a:ext uri="{FF2B5EF4-FFF2-40B4-BE49-F238E27FC236}">
                <a16:creationId xmlns:a16="http://schemas.microsoft.com/office/drawing/2014/main" id="{A3F41FF1-11DB-B1AA-891C-5790AADB20C7}"/>
              </a:ext>
            </a:extLst>
          </p:cNvPr>
          <p:cNvSpPr>
            <a:spLocks noGrp="1"/>
          </p:cNvSpPr>
          <p:nvPr>
            <p:ph idx="4294967295"/>
          </p:nvPr>
        </p:nvSpPr>
        <p:spPr>
          <a:xfrm>
            <a:off x="442452" y="1455738"/>
            <a:ext cx="11002296" cy="5259694"/>
          </a:xfrm>
        </p:spPr>
        <p:txBody>
          <a:bodyPr>
            <a:noAutofit/>
          </a:bodyPr>
          <a:lstStyle/>
          <a:p>
            <a:pPr marL="0" indent="0">
              <a:buNone/>
            </a:pP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 H. Patel, D. Gupta, and R. Singh, “Domicile - An IoT Based Smart Home Automation System,” in IEEE International Conference on Computational Intelligence and Networks (CINE), 2021.</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Jampana, J. G., Praneeth, A. J., Devi, J. H., &amp; Rani, P- “Smart Home Automation System with Status Feedback Based on ESP32 and IoT”. Proceedings of the 7th International Conference on Innovations and Research in Technology and Engineering (ICIRTE),2022.</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[3] A. Koushal, R. Gupta, and F. Jan, “Home Automation System Using ESP32 and Firebase,” in Proceedings of the IEEE International Conference on Smart Systems and IoT Innovations (ICSSI), 2023. </a:t>
            </a: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[4] R Arunadevi, J Lurdhumary, R Ramya, M S Vinotheni, YuvikaShree S, Swathi D R,K.Mariyamma- “Iot based smart home automation using esp32”2025 International Conference on computing and communication technologies (ICCCT),2025</a:t>
            </a:r>
            <a:endParaRPr lang="en-IN"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5097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Rustic Roadway">
            <a:extLst>
              <a:ext uri="{FF2B5EF4-FFF2-40B4-BE49-F238E27FC236}">
                <a16:creationId xmlns:a16="http://schemas.microsoft.com/office/drawing/2014/main" id="{C404C436-DDF4-499A-9CD4-9F724048F4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4478" y="2234380"/>
            <a:ext cx="5417573" cy="2389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99385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676</TotalTime>
  <Words>2039</Words>
  <Application>Microsoft Office PowerPoint</Application>
  <PresentationFormat>Widescreen</PresentationFormat>
  <Paragraphs>131</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 MT</vt:lpstr>
      <vt:lpstr>Calibri</vt:lpstr>
      <vt:lpstr>Garamond</vt:lpstr>
      <vt:lpstr>Times New Roman</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Block diagram states that:</vt:lpstr>
      <vt:lpstr>PowerPoint Presentation</vt:lpstr>
      <vt:lpstr>PowerPoint Presentation</vt:lpstr>
      <vt:lpstr>ESP32 Controller Board</vt:lpstr>
      <vt:lpstr>RESULT</vt:lpstr>
      <vt:lpstr>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Spoorthy p</dc:creator>
  <cp:lastModifiedBy>Tayaba Khanum</cp:lastModifiedBy>
  <cp:revision>41</cp:revision>
  <dcterms:created xsi:type="dcterms:W3CDTF">2024-11-24T19:01:18Z</dcterms:created>
  <dcterms:modified xsi:type="dcterms:W3CDTF">2025-12-11T16:37:01Z</dcterms:modified>
</cp:coreProperties>
</file>